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316" r:id="rId3"/>
    <p:sldId id="286" r:id="rId4"/>
    <p:sldId id="313" r:id="rId5"/>
    <p:sldId id="307" r:id="rId6"/>
    <p:sldId id="317" r:id="rId7"/>
    <p:sldId id="318" r:id="rId8"/>
    <p:sldId id="320" r:id="rId9"/>
    <p:sldId id="319" r:id="rId10"/>
    <p:sldId id="308" r:id="rId11"/>
    <p:sldId id="312" r:id="rId12"/>
    <p:sldId id="314" r:id="rId13"/>
    <p:sldId id="310" r:id="rId14"/>
    <p:sldId id="326" r:id="rId15"/>
    <p:sldId id="309" r:id="rId16"/>
    <p:sldId id="321" r:id="rId17"/>
    <p:sldId id="322" r:id="rId18"/>
    <p:sldId id="323" r:id="rId19"/>
    <p:sldId id="324" r:id="rId20"/>
    <p:sldId id="325" r:id="rId21"/>
    <p:sldId id="305" r:id="rId22"/>
    <p:sldId id="285" r:id="rId23"/>
  </p:sldIdLst>
  <p:sldSz cx="12192000" cy="6858000"/>
  <p:notesSz cx="12192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havana Sanjay" initials="BS" lastIdx="1" clrIdx="0">
    <p:extLst>
      <p:ext uri="{19B8F6BF-5375-455C-9EA6-DF929625EA0E}">
        <p15:presenceInfo xmlns:p15="http://schemas.microsoft.com/office/powerpoint/2012/main" userId="6a3f282ffa9673d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8CB955-9502-4D7A-BE06-98EFF780F8AE}" v="7" dt="2026-03-31T15:50:19.9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660"/>
  </p:normalViewPr>
  <p:slideViewPr>
    <p:cSldViewPr snapToGrid="0">
      <p:cViewPr varScale="1">
        <p:scale>
          <a:sx n="62" d="100"/>
          <a:sy n="62" d="100"/>
        </p:scale>
        <p:origin x="868" y="44"/>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5283200" cy="3444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6905625" y="0"/>
            <a:ext cx="5283200" cy="3444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5283200" cy="3444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9579908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 name="Google Shape;46;p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CC70D816-C77C-E422-C560-5040E377AC12}"/>
            </a:ext>
          </a:extLst>
        </p:cNvPr>
        <p:cNvGrpSpPr/>
        <p:nvPr/>
      </p:nvGrpSpPr>
      <p:grpSpPr>
        <a:xfrm>
          <a:off x="0" y="0"/>
          <a:ext cx="0" cy="0"/>
          <a:chOff x="0" y="0"/>
          <a:chExt cx="0" cy="0"/>
        </a:xfrm>
      </p:grpSpPr>
      <p:sp>
        <p:nvSpPr>
          <p:cNvPr id="62" name="Google Shape;62;p2:notes">
            <a:extLst>
              <a:ext uri="{FF2B5EF4-FFF2-40B4-BE49-F238E27FC236}">
                <a16:creationId xmlns:a16="http://schemas.microsoft.com/office/drawing/2014/main" id="{E6655388-E247-21F4-A0D4-FB3F4BF99F85}"/>
              </a:ext>
            </a:extLst>
          </p:cNvPr>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 name="Google Shape;63;p2:notes">
            <a:extLst>
              <a:ext uri="{FF2B5EF4-FFF2-40B4-BE49-F238E27FC236}">
                <a16:creationId xmlns:a16="http://schemas.microsoft.com/office/drawing/2014/main" id="{E1CF8E04-E35D-D705-E499-BF58B8D4AE50}"/>
              </a:ext>
            </a:extLst>
          </p:cNvPr>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66446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85367FE4-EE8B-1213-F0A4-948E513C057E}"/>
            </a:ext>
          </a:extLst>
        </p:cNvPr>
        <p:cNvGrpSpPr/>
        <p:nvPr/>
      </p:nvGrpSpPr>
      <p:grpSpPr>
        <a:xfrm>
          <a:off x="0" y="0"/>
          <a:ext cx="0" cy="0"/>
          <a:chOff x="0" y="0"/>
          <a:chExt cx="0" cy="0"/>
        </a:xfrm>
      </p:grpSpPr>
      <p:sp>
        <p:nvSpPr>
          <p:cNvPr id="62" name="Google Shape;62;p2:notes">
            <a:extLst>
              <a:ext uri="{FF2B5EF4-FFF2-40B4-BE49-F238E27FC236}">
                <a16:creationId xmlns:a16="http://schemas.microsoft.com/office/drawing/2014/main" id="{3275B9A2-5D5D-433A-3E6A-8BF40F4CA673}"/>
              </a:ext>
            </a:extLst>
          </p:cNvPr>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 name="Google Shape;63;p2:notes">
            <a:extLst>
              <a:ext uri="{FF2B5EF4-FFF2-40B4-BE49-F238E27FC236}">
                <a16:creationId xmlns:a16="http://schemas.microsoft.com/office/drawing/2014/main" id="{24B10370-4C61-A218-751B-EA333C2C8BF7}"/>
              </a:ext>
            </a:extLst>
          </p:cNvPr>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3376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BD0336F5-EE49-7D8B-2D1C-D73809380F4B}"/>
            </a:ext>
          </a:extLst>
        </p:cNvPr>
        <p:cNvGrpSpPr/>
        <p:nvPr/>
      </p:nvGrpSpPr>
      <p:grpSpPr>
        <a:xfrm>
          <a:off x="0" y="0"/>
          <a:ext cx="0" cy="0"/>
          <a:chOff x="0" y="0"/>
          <a:chExt cx="0" cy="0"/>
        </a:xfrm>
      </p:grpSpPr>
      <p:sp>
        <p:nvSpPr>
          <p:cNvPr id="62" name="Google Shape;62;p2:notes">
            <a:extLst>
              <a:ext uri="{FF2B5EF4-FFF2-40B4-BE49-F238E27FC236}">
                <a16:creationId xmlns:a16="http://schemas.microsoft.com/office/drawing/2014/main" id="{A78B3D26-CC59-782E-0C8F-5BC1454F77C8}"/>
              </a:ext>
            </a:extLst>
          </p:cNvPr>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 name="Google Shape;63;p2:notes">
            <a:extLst>
              <a:ext uri="{FF2B5EF4-FFF2-40B4-BE49-F238E27FC236}">
                <a16:creationId xmlns:a16="http://schemas.microsoft.com/office/drawing/2014/main" id="{40D6652A-69EB-5E2E-9303-A02C0652608F}"/>
              </a:ext>
            </a:extLst>
          </p:cNvPr>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5764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9"/>
          <p:cNvSpPr txBox="1">
            <a:spLocks noGrp="1"/>
          </p:cNvSpPr>
          <p:nvPr>
            <p:ph type="title"/>
          </p:nvPr>
        </p:nvSpPr>
        <p:spPr>
          <a:xfrm>
            <a:off x="3026791" y="889380"/>
            <a:ext cx="7449184" cy="7543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400" b="1"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9"/>
          <p:cNvSpPr txBox="1">
            <a:spLocks noGrp="1"/>
          </p:cNvSpPr>
          <p:nvPr>
            <p:ph type="body" idx="1"/>
          </p:nvPr>
        </p:nvSpPr>
        <p:spPr>
          <a:xfrm>
            <a:off x="1281683" y="1154112"/>
            <a:ext cx="8314055" cy="191388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000" b="1" i="0">
                <a:solidFill>
                  <a:schemeClr val="dk1"/>
                </a:solidFill>
                <a:latin typeface="Times New Roman"/>
                <a:ea typeface="Times New Roman"/>
                <a:cs typeface="Times New Roman"/>
                <a:sym typeface="Times New Roman"/>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9" name="Google Shape;19;p9"/>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9"/>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9"/>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2"/>
        <p:cNvGrpSpPr/>
        <p:nvPr/>
      </p:nvGrpSpPr>
      <p:grpSpPr>
        <a:xfrm>
          <a:off x="0" y="0"/>
          <a:ext cx="0" cy="0"/>
          <a:chOff x="0" y="0"/>
          <a:chExt cx="0" cy="0"/>
        </a:xfrm>
      </p:grpSpPr>
      <p:sp>
        <p:nvSpPr>
          <p:cNvPr id="23" name="Google Shape;23;p10"/>
          <p:cNvSpPr txBox="1">
            <a:spLocks noGrp="1"/>
          </p:cNvSpPr>
          <p:nvPr>
            <p:ph type="title"/>
          </p:nvPr>
        </p:nvSpPr>
        <p:spPr>
          <a:xfrm>
            <a:off x="3026791" y="889380"/>
            <a:ext cx="7449184" cy="7543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400" b="1"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0"/>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7"/>
        <p:cNvGrpSpPr/>
        <p:nvPr/>
      </p:nvGrpSpPr>
      <p:grpSpPr>
        <a:xfrm>
          <a:off x="0" y="0"/>
          <a:ext cx="0" cy="0"/>
          <a:chOff x="0" y="0"/>
          <a:chExt cx="0" cy="0"/>
        </a:xfrm>
      </p:grpSpPr>
      <p:sp>
        <p:nvSpPr>
          <p:cNvPr id="28" name="Google Shape;28;p11"/>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1"/>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3"/>
        <p:cNvGrpSpPr/>
        <p:nvPr/>
      </p:nvGrpSpPr>
      <p:grpSpPr>
        <a:xfrm>
          <a:off x="0" y="0"/>
          <a:ext cx="0" cy="0"/>
          <a:chOff x="0" y="0"/>
          <a:chExt cx="0" cy="0"/>
        </a:xfrm>
      </p:grpSpPr>
      <p:sp>
        <p:nvSpPr>
          <p:cNvPr id="34" name="Google Shape;34;p12"/>
          <p:cNvSpPr txBox="1">
            <a:spLocks noGrp="1"/>
          </p:cNvSpPr>
          <p:nvPr>
            <p:ph type="title"/>
          </p:nvPr>
        </p:nvSpPr>
        <p:spPr>
          <a:xfrm>
            <a:off x="3026791" y="889380"/>
            <a:ext cx="7449184" cy="7543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400" b="1"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2"/>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6" name="Google Shape;36;p12"/>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7" name="Google Shape;37;p1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0"/>
        <p:cNvGrpSpPr/>
        <p:nvPr/>
      </p:nvGrpSpPr>
      <p:grpSpPr>
        <a:xfrm>
          <a:off x="0" y="0"/>
          <a:ext cx="0" cy="0"/>
          <a:chOff x="0" y="0"/>
          <a:chExt cx="0" cy="0"/>
        </a:xfrm>
      </p:grpSpPr>
      <p:sp>
        <p:nvSpPr>
          <p:cNvPr id="41" name="Google Shape;41;p1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8"/>
          <p:cNvPicPr preferRelativeResize="0"/>
          <p:nvPr/>
        </p:nvPicPr>
        <p:blipFill rotWithShape="1">
          <a:blip r:embed="rId7">
            <a:alphaModFix/>
          </a:blip>
          <a:srcRect/>
          <a:stretch/>
        </p:blipFill>
        <p:spPr>
          <a:xfrm>
            <a:off x="0" y="0"/>
            <a:ext cx="12191999" cy="6857998"/>
          </a:xfrm>
          <a:prstGeom prst="rect">
            <a:avLst/>
          </a:prstGeom>
          <a:noFill/>
          <a:ln>
            <a:noFill/>
          </a:ln>
        </p:spPr>
      </p:pic>
      <p:sp>
        <p:nvSpPr>
          <p:cNvPr id="11" name="Google Shape;11;p8"/>
          <p:cNvSpPr txBox="1">
            <a:spLocks noGrp="1"/>
          </p:cNvSpPr>
          <p:nvPr>
            <p:ph type="title"/>
          </p:nvPr>
        </p:nvSpPr>
        <p:spPr>
          <a:xfrm>
            <a:off x="3026791" y="889380"/>
            <a:ext cx="7449184" cy="75438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2400" b="1"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8"/>
          <p:cNvSpPr txBox="1">
            <a:spLocks noGrp="1"/>
          </p:cNvSpPr>
          <p:nvPr>
            <p:ph type="body" idx="1"/>
          </p:nvPr>
        </p:nvSpPr>
        <p:spPr>
          <a:xfrm>
            <a:off x="1281683" y="1154112"/>
            <a:ext cx="8314055" cy="191388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000" b="1" i="0" u="none" strike="noStrike" cap="none">
                <a:solidFill>
                  <a:schemeClr val="dk1"/>
                </a:solidFill>
                <a:latin typeface="Times New Roman"/>
                <a:ea typeface="Times New Roman"/>
                <a:cs typeface="Times New Roman"/>
                <a:sym typeface="Times New Roman"/>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3" name="Google Shape;13;p8"/>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8"/>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8"/>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7"/>
        <p:cNvGrpSpPr/>
        <p:nvPr/>
      </p:nvGrpSpPr>
      <p:grpSpPr>
        <a:xfrm>
          <a:off x="0" y="0"/>
          <a:ext cx="0" cy="0"/>
          <a:chOff x="0" y="0"/>
          <a:chExt cx="0" cy="0"/>
        </a:xfrm>
      </p:grpSpPr>
      <p:pic>
        <p:nvPicPr>
          <p:cNvPr id="48" name="Google Shape;48;p1"/>
          <p:cNvPicPr preferRelativeResize="0"/>
          <p:nvPr/>
        </p:nvPicPr>
        <p:blipFill rotWithShape="1">
          <a:blip r:embed="rId3">
            <a:alphaModFix/>
          </a:blip>
          <a:srcRect/>
          <a:stretch/>
        </p:blipFill>
        <p:spPr>
          <a:xfrm>
            <a:off x="590550" y="1333500"/>
            <a:ext cx="1295400" cy="1047750"/>
          </a:xfrm>
          <a:prstGeom prst="rect">
            <a:avLst/>
          </a:prstGeom>
          <a:noFill/>
          <a:ln>
            <a:noFill/>
          </a:ln>
        </p:spPr>
      </p:pic>
      <p:pic>
        <p:nvPicPr>
          <p:cNvPr id="49" name="Google Shape;49;p1"/>
          <p:cNvPicPr preferRelativeResize="0"/>
          <p:nvPr/>
        </p:nvPicPr>
        <p:blipFill rotWithShape="1">
          <a:blip r:embed="rId4">
            <a:alphaModFix/>
          </a:blip>
          <a:srcRect/>
          <a:stretch/>
        </p:blipFill>
        <p:spPr>
          <a:xfrm>
            <a:off x="180975" y="4886325"/>
            <a:ext cx="1028700" cy="1543050"/>
          </a:xfrm>
          <a:prstGeom prst="rect">
            <a:avLst/>
          </a:prstGeom>
          <a:noFill/>
          <a:ln>
            <a:noFill/>
          </a:ln>
        </p:spPr>
      </p:pic>
      <p:sp>
        <p:nvSpPr>
          <p:cNvPr id="50" name="Google Shape;50;p1"/>
          <p:cNvSpPr txBox="1"/>
          <p:nvPr/>
        </p:nvSpPr>
        <p:spPr>
          <a:xfrm>
            <a:off x="2489454" y="935338"/>
            <a:ext cx="9272905" cy="5867400"/>
          </a:xfrm>
          <a:prstGeom prst="rect">
            <a:avLst/>
          </a:prstGeom>
          <a:noFill/>
          <a:ln>
            <a:noFill/>
          </a:ln>
        </p:spPr>
        <p:txBody>
          <a:bodyPr spcFirstLastPara="1" wrap="square" lIns="0" tIns="0" rIns="0" bIns="0" anchor="t" anchorCtr="0">
            <a:spAutoFit/>
          </a:bodyPr>
          <a:lstStyle/>
          <a:p>
            <a:pPr marL="0" marR="740410" lvl="0" indent="0" algn="ctr" rtl="0">
              <a:lnSpc>
                <a:spcPct val="10875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MACHINE LEARNING BASED DIABETES</a:t>
            </a:r>
            <a:endParaRPr sz="2400" b="0" i="0" u="none" strike="noStrike" cap="none">
              <a:solidFill>
                <a:schemeClr val="dk1"/>
              </a:solidFill>
              <a:latin typeface="Times New Roman"/>
              <a:ea typeface="Times New Roman"/>
              <a:cs typeface="Times New Roman"/>
              <a:sym typeface="Times New Roman"/>
            </a:endParaRPr>
          </a:p>
          <a:p>
            <a:pPr marL="0" marR="729615" lvl="0" indent="0" algn="ctr" rtl="0">
              <a:lnSpc>
                <a:spcPct val="119375"/>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PREDICTION SYSTEM</a:t>
            </a: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Clr>
                <a:srgbClr val="000000"/>
              </a:buClr>
              <a:buSzPts val="2150"/>
              <a:buFont typeface="Arial"/>
              <a:buNone/>
            </a:pPr>
            <a:endParaRPr sz="215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Arial"/>
                <a:ea typeface="Arial"/>
                <a:cs typeface="Arial"/>
                <a:sym typeface="Arial"/>
              </a:rPr>
              <a:t>PRESENTED BY	GUIDED BY</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35"/>
              </a:spcBef>
              <a:spcAft>
                <a:spcPts val="0"/>
              </a:spcAft>
              <a:buClr>
                <a:srgbClr val="000000"/>
              </a:buClr>
              <a:buSzPts val="2550"/>
              <a:buFont typeface="Arial"/>
              <a:buNone/>
            </a:pPr>
            <a:endParaRPr sz="2550" b="0" i="0" u="none" strike="noStrike" cap="none">
              <a:solidFill>
                <a:schemeClr val="dk1"/>
              </a:solidFill>
              <a:latin typeface="Arial"/>
              <a:ea typeface="Arial"/>
              <a:cs typeface="Arial"/>
              <a:sym typeface="Arial"/>
            </a:endParaRPr>
          </a:p>
          <a:p>
            <a:pPr marL="7821294"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DATE:</a:t>
            </a:r>
            <a:endParaRPr sz="1800" b="0" i="0" u="none" strike="noStrike" cap="none">
              <a:solidFill>
                <a:schemeClr val="dk1"/>
              </a:solidFill>
              <a:latin typeface="Arial"/>
              <a:ea typeface="Arial"/>
              <a:cs typeface="Arial"/>
              <a:sym typeface="Arial"/>
            </a:endParaRPr>
          </a:p>
          <a:p>
            <a:pPr marL="7821294" marR="0" lvl="0" indent="0" algn="l" rtl="0">
              <a:lnSpc>
                <a:spcPct val="100000"/>
              </a:lnSpc>
              <a:spcBef>
                <a:spcPts val="15"/>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Second Review</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55"/>
              </a:spcBef>
              <a:spcAft>
                <a:spcPts val="0"/>
              </a:spcAft>
              <a:buClr>
                <a:srgbClr val="000000"/>
              </a:buClr>
              <a:buSzPts val="2050"/>
              <a:buFont typeface="Arial"/>
              <a:buNone/>
            </a:pPr>
            <a:endParaRPr sz="2050" b="0" i="0" u="none" strike="noStrike" cap="none">
              <a:solidFill>
                <a:schemeClr val="dk1"/>
              </a:solidFill>
              <a:latin typeface="Arial"/>
              <a:ea typeface="Arial"/>
              <a:cs typeface="Arial"/>
              <a:sym typeface="Arial"/>
            </a:endParaRPr>
          </a:p>
          <a:p>
            <a:pPr marL="0" marR="735330" lvl="0" indent="0" algn="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pic>
        <p:nvPicPr>
          <p:cNvPr id="52" name="Google Shape;52;p1"/>
          <p:cNvPicPr preferRelativeResize="0"/>
          <p:nvPr/>
        </p:nvPicPr>
        <p:blipFill rotWithShape="1">
          <a:blip r:embed="rId5">
            <a:alphaModFix/>
          </a:blip>
          <a:srcRect/>
          <a:stretch/>
        </p:blipFill>
        <p:spPr>
          <a:xfrm>
            <a:off x="1" y="4764"/>
            <a:ext cx="12191999" cy="6848472"/>
          </a:xfrm>
          <a:prstGeom prst="rect">
            <a:avLst/>
          </a:prstGeom>
          <a:noFill/>
          <a:ln>
            <a:noFill/>
          </a:ln>
        </p:spPr>
      </p:pic>
      <p:sp>
        <p:nvSpPr>
          <p:cNvPr id="55" name="Google Shape;55;p1"/>
          <p:cNvSpPr txBox="1"/>
          <p:nvPr/>
        </p:nvSpPr>
        <p:spPr>
          <a:xfrm>
            <a:off x="2814180" y="4401951"/>
            <a:ext cx="2411400" cy="305212"/>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900"/>
              <a:buFont typeface="Arial"/>
              <a:buNone/>
            </a:pPr>
            <a:r>
              <a:rPr lang="en-US" sz="1900" b="1" i="0" u="none" strike="noStrike" cap="none" dirty="0">
                <a:solidFill>
                  <a:schemeClr val="dk1"/>
                </a:solidFill>
                <a:latin typeface="Times New Roman"/>
                <a:ea typeface="Times New Roman"/>
                <a:cs typeface="Times New Roman"/>
                <a:sym typeface="Times New Roman"/>
              </a:rPr>
              <a:t>PRESENTED BY</a:t>
            </a:r>
          </a:p>
        </p:txBody>
      </p:sp>
      <p:sp>
        <p:nvSpPr>
          <p:cNvPr id="57" name="Google Shape;57;p1"/>
          <p:cNvSpPr txBox="1"/>
          <p:nvPr/>
        </p:nvSpPr>
        <p:spPr>
          <a:xfrm>
            <a:off x="8875578" y="4383376"/>
            <a:ext cx="1920241" cy="305212"/>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900"/>
              <a:buFont typeface="Arial"/>
              <a:buNone/>
            </a:pPr>
            <a:r>
              <a:rPr lang="en-US" sz="1900" b="1" i="0" u="none" strike="noStrike" cap="none" dirty="0">
                <a:solidFill>
                  <a:schemeClr val="dk1"/>
                </a:solidFill>
                <a:latin typeface="Times New Roman"/>
                <a:ea typeface="Times New Roman"/>
                <a:cs typeface="Times New Roman"/>
                <a:sym typeface="Times New Roman"/>
              </a:rPr>
              <a:t>GUIDED BY</a:t>
            </a:r>
            <a:endParaRPr sz="1900" b="0" i="0" u="none" strike="noStrike" cap="none" dirty="0">
              <a:solidFill>
                <a:schemeClr val="dk1"/>
              </a:solidFill>
              <a:latin typeface="Times New Roman"/>
              <a:ea typeface="Times New Roman"/>
              <a:cs typeface="Times New Roman"/>
              <a:sym typeface="Times New Roman"/>
            </a:endParaRPr>
          </a:p>
        </p:txBody>
      </p:sp>
      <p:sp>
        <p:nvSpPr>
          <p:cNvPr id="58" name="Google Shape;58;p1"/>
          <p:cNvSpPr txBox="1">
            <a:spLocks noGrp="1"/>
          </p:cNvSpPr>
          <p:nvPr>
            <p:ph type="title"/>
          </p:nvPr>
        </p:nvSpPr>
        <p:spPr>
          <a:xfrm>
            <a:off x="3019926" y="1923253"/>
            <a:ext cx="8102486" cy="505898"/>
          </a:xfrm>
          <a:prstGeom prst="rect">
            <a:avLst/>
          </a:prstGeom>
          <a:noFill/>
          <a:ln>
            <a:noFill/>
          </a:ln>
        </p:spPr>
        <p:txBody>
          <a:bodyPr spcFirstLastPara="1" wrap="square" lIns="0" tIns="13325" rIns="0" bIns="0" anchor="t" anchorCtr="0">
            <a:spAutoFit/>
          </a:bodyPr>
          <a:lstStyle/>
          <a:p>
            <a:pPr lvl="0" algn="ctr"/>
            <a:r>
              <a:rPr lang="en-IN" sz="3200" dirty="0"/>
              <a:t>MACHINE LEARNING BASED DIABETES PREDICTION SYSTEM</a:t>
            </a:r>
            <a:endParaRPr sz="3200" dirty="0">
              <a:solidFill>
                <a:srgbClr val="0000FF"/>
              </a:solidFill>
            </a:endParaRPr>
          </a:p>
        </p:txBody>
      </p:sp>
      <p:sp>
        <p:nvSpPr>
          <p:cNvPr id="60" name="Google Shape;60;p1"/>
          <p:cNvSpPr txBox="1"/>
          <p:nvPr/>
        </p:nvSpPr>
        <p:spPr>
          <a:xfrm>
            <a:off x="8087441" y="4428850"/>
            <a:ext cx="3219884" cy="990641"/>
          </a:xfrm>
          <a:prstGeom prst="rect">
            <a:avLst/>
          </a:prstGeom>
          <a:noFill/>
          <a:ln>
            <a:noFill/>
          </a:ln>
        </p:spPr>
        <p:txBody>
          <a:bodyPr spcFirstLastPara="1" wrap="square" lIns="0" tIns="1581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endParaRPr lang="en-US" sz="1800" b="0" i="0" u="none" strike="noStrike" cap="none" dirty="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Clr>
                <a:srgbClr val="000000"/>
              </a:buClr>
              <a:buSzPts val="1800"/>
              <a:buFont typeface="Arial"/>
              <a:buNone/>
            </a:pPr>
            <a:r>
              <a:rPr lang="en-IN" sz="1800" b="0" i="0" u="none" strike="noStrike" cap="none" dirty="0">
                <a:solidFill>
                  <a:schemeClr val="dk1"/>
                </a:solidFill>
                <a:latin typeface="Times New Roman"/>
                <a:ea typeface="Times New Roman"/>
                <a:cs typeface="Times New Roman"/>
                <a:sym typeface="Times New Roman"/>
              </a:rPr>
              <a:t>	N.SHANTHI</a:t>
            </a:r>
          </a:p>
          <a:p>
            <a:pPr marL="12700" marR="0" lvl="0" indent="0" algn="l" rtl="0">
              <a:lnSpc>
                <a:spcPct val="100000"/>
              </a:lnSpc>
              <a:spcBef>
                <a:spcPts val="0"/>
              </a:spcBef>
              <a:spcAft>
                <a:spcPts val="0"/>
              </a:spcAft>
              <a:buClr>
                <a:srgbClr val="000000"/>
              </a:buClr>
              <a:buSzPts val="1800"/>
              <a:buFont typeface="Arial"/>
              <a:buNone/>
            </a:pPr>
            <a:r>
              <a:rPr lang="en-IN" sz="1800" dirty="0">
                <a:solidFill>
                  <a:schemeClr val="dk1"/>
                </a:solidFill>
                <a:latin typeface="Times New Roman"/>
                <a:ea typeface="Times New Roman"/>
                <a:cs typeface="Times New Roman"/>
                <a:sym typeface="Times New Roman"/>
              </a:rPr>
              <a:t>       SENIOR PROFESSOR</a:t>
            </a:r>
            <a:endParaRPr sz="1800" b="0" i="0" u="none" strike="noStrike" cap="none" dirty="0">
              <a:solidFill>
                <a:schemeClr val="dk1"/>
              </a:solidFill>
              <a:latin typeface="Times New Roman"/>
              <a:ea typeface="Times New Roman"/>
              <a:cs typeface="Times New Roman"/>
              <a:sym typeface="Times New Roman"/>
            </a:endParaRPr>
          </a:p>
        </p:txBody>
      </p:sp>
      <p:sp>
        <p:nvSpPr>
          <p:cNvPr id="5" name="TextBox 4"/>
          <p:cNvSpPr txBox="1"/>
          <p:nvPr/>
        </p:nvSpPr>
        <p:spPr>
          <a:xfrm>
            <a:off x="4444955" y="3027030"/>
            <a:ext cx="5252428" cy="830997"/>
          </a:xfrm>
          <a:prstGeom prst="rect">
            <a:avLst/>
          </a:prstGeom>
          <a:noFill/>
        </p:spPr>
        <p:txBody>
          <a:bodyPr wrap="square" rtlCol="0">
            <a:spAutoFit/>
          </a:bodyPr>
          <a:lstStyle/>
          <a:p>
            <a:pPr algn="ctr"/>
            <a:r>
              <a:rPr lang="en-IN" sz="2400" b="1" dirty="0">
                <a:solidFill>
                  <a:schemeClr val="bg2">
                    <a:lumMod val="60000"/>
                    <a:lumOff val="40000"/>
                  </a:schemeClr>
                </a:solidFill>
                <a:latin typeface="Times New Roman" panose="02020603050405020304" pitchFamily="18" charset="0"/>
                <a:cs typeface="Times New Roman" panose="02020603050405020304" pitchFamily="18" charset="0"/>
              </a:rPr>
              <a:t>24GEP41- MINI PROJECT </a:t>
            </a:r>
          </a:p>
          <a:p>
            <a:pPr algn="ctr"/>
            <a:r>
              <a:rPr lang="en-IN" sz="2400" b="1" dirty="0">
                <a:solidFill>
                  <a:schemeClr val="bg2">
                    <a:lumMod val="60000"/>
                    <a:lumOff val="40000"/>
                  </a:schemeClr>
                </a:solidFill>
                <a:latin typeface="Times New Roman" panose="02020603050405020304" pitchFamily="18" charset="0"/>
                <a:cs typeface="Times New Roman" panose="02020603050405020304" pitchFamily="18" charset="0"/>
              </a:rPr>
              <a:t>FINAL REVIEW</a:t>
            </a:r>
          </a:p>
        </p:txBody>
      </p:sp>
      <p:sp>
        <p:nvSpPr>
          <p:cNvPr id="2" name="object 8">
            <a:extLst>
              <a:ext uri="{FF2B5EF4-FFF2-40B4-BE49-F238E27FC236}">
                <a16:creationId xmlns:a16="http://schemas.microsoft.com/office/drawing/2014/main" id="{C8420048-7537-79DB-BB9F-55D2D66F06E4}"/>
              </a:ext>
            </a:extLst>
          </p:cNvPr>
          <p:cNvSpPr txBox="1">
            <a:spLocks/>
          </p:cNvSpPr>
          <p:nvPr/>
        </p:nvSpPr>
        <p:spPr>
          <a:xfrm>
            <a:off x="3401256" y="337459"/>
            <a:ext cx="7449300" cy="887422"/>
          </a:xfrm>
          <a:prstGeom prst="rect">
            <a:avLst/>
          </a:prstGeom>
          <a:noFill/>
          <a:ln>
            <a:noFill/>
          </a:ln>
        </p:spPr>
        <p:txBody>
          <a:bodyPr spcFirstLastPara="1" vert="horz" wrap="square" lIns="0" tIns="12700" rIns="0" bIns="0" rtlCol="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2400" b="1"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spcBef>
                <a:spcPts val="100"/>
              </a:spcBef>
            </a:pPr>
            <a:r>
              <a:rPr lang="en-US" sz="2800" dirty="0">
                <a:solidFill>
                  <a:srgbClr val="0000FF"/>
                </a:solidFill>
              </a:rPr>
              <a:t>KONGU</a:t>
            </a:r>
            <a:r>
              <a:rPr lang="en-US" sz="2800" spc="-20" dirty="0">
                <a:solidFill>
                  <a:srgbClr val="0000FF"/>
                </a:solidFill>
              </a:rPr>
              <a:t> </a:t>
            </a:r>
            <a:r>
              <a:rPr lang="en-US" sz="2800" dirty="0">
                <a:solidFill>
                  <a:srgbClr val="0000FF"/>
                </a:solidFill>
              </a:rPr>
              <a:t>ENGINEERING</a:t>
            </a:r>
            <a:r>
              <a:rPr lang="en-US" sz="2800" spc="10" dirty="0">
                <a:solidFill>
                  <a:srgbClr val="0000FF"/>
                </a:solidFill>
              </a:rPr>
              <a:t> </a:t>
            </a:r>
            <a:r>
              <a:rPr lang="en-US" sz="2800" spc="-10" dirty="0">
                <a:solidFill>
                  <a:srgbClr val="0000FF"/>
                </a:solidFill>
              </a:rPr>
              <a:t>COLLEGE</a:t>
            </a:r>
            <a:br>
              <a:rPr lang="en-US" sz="2800" dirty="0"/>
            </a:br>
            <a:r>
              <a:rPr lang="en-US" sz="2800" dirty="0">
                <a:solidFill>
                  <a:srgbClr val="536321"/>
                </a:solidFill>
              </a:rPr>
              <a:t>PERUNDURAI </a:t>
            </a:r>
            <a:r>
              <a:rPr lang="en-US" sz="2800" spc="-10" dirty="0">
                <a:solidFill>
                  <a:srgbClr val="536321"/>
                </a:solidFill>
              </a:rPr>
              <a:t>ERODE-638060</a:t>
            </a:r>
            <a:endParaRPr lang="en-US" sz="2800" dirty="0"/>
          </a:p>
        </p:txBody>
      </p:sp>
      <p:sp>
        <p:nvSpPr>
          <p:cNvPr id="3" name="object 8">
            <a:extLst>
              <a:ext uri="{FF2B5EF4-FFF2-40B4-BE49-F238E27FC236}">
                <a16:creationId xmlns:a16="http://schemas.microsoft.com/office/drawing/2014/main" id="{E15F7FEE-32AE-B641-2FE4-8F473C286902}"/>
              </a:ext>
            </a:extLst>
          </p:cNvPr>
          <p:cNvSpPr txBox="1">
            <a:spLocks/>
          </p:cNvSpPr>
          <p:nvPr/>
        </p:nvSpPr>
        <p:spPr>
          <a:xfrm>
            <a:off x="3346519" y="1204833"/>
            <a:ext cx="7449300" cy="456535"/>
          </a:xfrm>
          <a:prstGeom prst="rect">
            <a:avLst/>
          </a:prstGeom>
          <a:noFill/>
          <a:ln>
            <a:noFill/>
          </a:ln>
        </p:spPr>
        <p:txBody>
          <a:bodyPr spcFirstLastPara="1" vert="horz" wrap="square" lIns="0" tIns="12700" rIns="0" bIns="0" rtlCol="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2400" b="1"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spcBef>
                <a:spcPts val="100"/>
              </a:spcBef>
            </a:pPr>
            <a:r>
              <a:rPr lang="en-US" sz="2800" dirty="0">
                <a:solidFill>
                  <a:srgbClr val="0000FF"/>
                </a:solidFill>
              </a:rPr>
              <a:t>DEPARTMENT OF CSE</a:t>
            </a:r>
            <a:endParaRPr lang="en-US" sz="2800" dirty="0"/>
          </a:p>
        </p:txBody>
      </p:sp>
      <p:pic>
        <p:nvPicPr>
          <p:cNvPr id="4" name="Image 1">
            <a:extLst>
              <a:ext uri="{FF2B5EF4-FFF2-40B4-BE49-F238E27FC236}">
                <a16:creationId xmlns:a16="http://schemas.microsoft.com/office/drawing/2014/main" id="{BAA3E2B8-910E-4338-82D2-7650B410BE44}"/>
              </a:ext>
            </a:extLst>
          </p:cNvPr>
          <p:cNvPicPr/>
          <p:nvPr/>
        </p:nvPicPr>
        <p:blipFill>
          <a:blip r:embed="rId6" cstate="print"/>
          <a:stretch>
            <a:fillRect/>
          </a:stretch>
        </p:blipFill>
        <p:spPr>
          <a:xfrm>
            <a:off x="590550" y="1284470"/>
            <a:ext cx="1727726" cy="1144681"/>
          </a:xfrm>
          <a:prstGeom prst="rect">
            <a:avLst/>
          </a:prstGeom>
        </p:spPr>
      </p:pic>
      <p:sp>
        <p:nvSpPr>
          <p:cNvPr id="7" name="TextBox 6">
            <a:extLst>
              <a:ext uri="{FF2B5EF4-FFF2-40B4-BE49-F238E27FC236}">
                <a16:creationId xmlns:a16="http://schemas.microsoft.com/office/drawing/2014/main" id="{ED93EFBF-667A-4700-8673-7F62EECD0198}"/>
              </a:ext>
            </a:extLst>
          </p:cNvPr>
          <p:cNvSpPr txBox="1"/>
          <p:nvPr/>
        </p:nvSpPr>
        <p:spPr>
          <a:xfrm>
            <a:off x="3012185" y="4734712"/>
            <a:ext cx="4679581" cy="923330"/>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ANBUSELVAN M – 24CSR021</a:t>
            </a:r>
          </a:p>
          <a:p>
            <a:r>
              <a:rPr lang="en-IN" sz="1800" dirty="0">
                <a:latin typeface="Times New Roman" panose="02020603050405020304" pitchFamily="18" charset="0"/>
                <a:cs typeface="Times New Roman" panose="02020603050405020304" pitchFamily="18" charset="0"/>
              </a:rPr>
              <a:t>BHARANIDHARAN D - 24CSR037</a:t>
            </a:r>
          </a:p>
          <a:p>
            <a:r>
              <a:rPr lang="en-IN" sz="1800" dirty="0">
                <a:latin typeface="Times New Roman" panose="02020603050405020304" pitchFamily="18" charset="0"/>
                <a:cs typeface="Times New Roman" panose="02020603050405020304" pitchFamily="18" charset="0"/>
              </a:rPr>
              <a:t>BHAVANA R – 24CSR040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a:extLst>
            <a:ext uri="{FF2B5EF4-FFF2-40B4-BE49-F238E27FC236}">
              <a16:creationId xmlns:a16="http://schemas.microsoft.com/office/drawing/2014/main" id="{00255D1D-36FA-1E8F-9A8E-6F7EC01C56A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39BFF00-ADB7-3D18-D31F-3D21AA1C427C}"/>
              </a:ext>
            </a:extLst>
          </p:cNvPr>
          <p:cNvSpPr>
            <a:spLocks noGrp="1"/>
          </p:cNvSpPr>
          <p:nvPr>
            <p:ph type="body" idx="1"/>
          </p:nvPr>
        </p:nvSpPr>
        <p:spPr>
          <a:xfrm>
            <a:off x="1037690" y="1212352"/>
            <a:ext cx="10726220" cy="8233023"/>
          </a:xfrm>
        </p:spPr>
        <p:txBody>
          <a:bodyPr/>
          <a:lstStyle/>
          <a:p>
            <a:pPr algn="just">
              <a:lnSpc>
                <a:spcPct val="150000"/>
              </a:lnSpc>
            </a:pPr>
            <a:r>
              <a:rPr lang="en-US" sz="2800" b="0" u="sng" dirty="0">
                <a:solidFill>
                  <a:schemeClr val="bg2">
                    <a:lumMod val="60000"/>
                    <a:lumOff val="40000"/>
                  </a:schemeClr>
                </a:solidFill>
              </a:rPr>
              <a:t>PROBLEM STATEMENT: </a:t>
            </a:r>
          </a:p>
          <a:p>
            <a:pPr marL="571500" indent="-342900" algn="just">
              <a:lnSpc>
                <a:spcPct val="150000"/>
              </a:lnSpc>
              <a:buFont typeface="Arial" panose="020B0604020202020204" pitchFamily="34" charset="0"/>
              <a:buChar char="•"/>
            </a:pPr>
            <a:r>
              <a:rPr lang="en-IN" sz="2200" b="0" dirty="0">
                <a:latin typeface="Times New Roman" panose="02020603050405020304" pitchFamily="18" charset="0"/>
                <a:cs typeface="Times New Roman" panose="02020603050405020304" pitchFamily="18" charset="0"/>
              </a:rPr>
              <a:t>Diabetes is a </a:t>
            </a:r>
            <a:r>
              <a:rPr lang="en-IN" sz="2200" dirty="0">
                <a:latin typeface="Times New Roman" panose="02020603050405020304" pitchFamily="18" charset="0"/>
                <a:cs typeface="Times New Roman" panose="02020603050405020304" pitchFamily="18" charset="0"/>
              </a:rPr>
              <a:t>chronic metabolic disease </a:t>
            </a:r>
            <a:r>
              <a:rPr lang="en-IN" sz="2200" b="0" dirty="0">
                <a:latin typeface="Times New Roman" panose="02020603050405020304" pitchFamily="18" charset="0"/>
                <a:cs typeface="Times New Roman" panose="02020603050405020304" pitchFamily="18" charset="0"/>
              </a:rPr>
              <a:t>where </a:t>
            </a:r>
            <a:r>
              <a:rPr lang="en-IN" sz="2200" dirty="0">
                <a:latin typeface="Times New Roman" panose="02020603050405020304" pitchFamily="18" charset="0"/>
                <a:cs typeface="Times New Roman" panose="02020603050405020304" pitchFamily="18" charset="0"/>
              </a:rPr>
              <a:t>blood sugar levels</a:t>
            </a:r>
            <a:r>
              <a:rPr lang="en-IN" sz="2200" b="0" dirty="0">
                <a:latin typeface="Times New Roman" panose="02020603050405020304" pitchFamily="18" charset="0"/>
                <a:cs typeface="Times New Roman" panose="02020603050405020304" pitchFamily="18" charset="0"/>
              </a:rPr>
              <a:t> are persistently </a:t>
            </a:r>
            <a:r>
              <a:rPr lang="en-IN" sz="2200" dirty="0">
                <a:latin typeface="Times New Roman" panose="02020603050405020304" pitchFamily="18" charset="0"/>
                <a:cs typeface="Times New Roman" panose="02020603050405020304" pitchFamily="18" charset="0"/>
              </a:rPr>
              <a:t>high</a:t>
            </a:r>
            <a:r>
              <a:rPr lang="en-IN" sz="2200" b="0" dirty="0">
                <a:latin typeface="Times New Roman" panose="02020603050405020304" pitchFamily="18" charset="0"/>
                <a:cs typeface="Times New Roman" panose="02020603050405020304" pitchFamily="18" charset="0"/>
              </a:rPr>
              <a:t> due to </a:t>
            </a:r>
            <a:r>
              <a:rPr lang="en-IN" sz="2200" dirty="0">
                <a:latin typeface="Times New Roman" panose="02020603050405020304" pitchFamily="18" charset="0"/>
                <a:cs typeface="Times New Roman" panose="02020603050405020304" pitchFamily="18" charset="0"/>
              </a:rPr>
              <a:t>insufficient insulin production</a:t>
            </a:r>
            <a:r>
              <a:rPr lang="en-IN" sz="2200" b="0" dirty="0">
                <a:latin typeface="Times New Roman" panose="02020603050405020304" pitchFamily="18" charset="0"/>
                <a:cs typeface="Times New Roman" panose="02020603050405020304" pitchFamily="18" charset="0"/>
              </a:rPr>
              <a:t>.</a:t>
            </a:r>
          </a:p>
          <a:p>
            <a:pPr marL="571500" indent="-342900" algn="just">
              <a:lnSpc>
                <a:spcPct val="150000"/>
              </a:lnSpc>
              <a:buFont typeface="Arial" panose="020B0604020202020204" pitchFamily="34" charset="0"/>
              <a:buChar char="•"/>
            </a:pPr>
            <a:r>
              <a:rPr lang="en-US" sz="2200" b="0" dirty="0">
                <a:latin typeface="Times New Roman" panose="02020603050405020304" pitchFamily="18" charset="0"/>
                <a:cs typeface="Times New Roman" panose="02020603050405020304" pitchFamily="18" charset="0"/>
              </a:rPr>
              <a:t>Diabetes affects 830 million people, causing </a:t>
            </a:r>
            <a:r>
              <a:rPr lang="en-US" sz="2200" dirty="0">
                <a:latin typeface="Times New Roman" panose="02020603050405020304" pitchFamily="18" charset="0"/>
                <a:cs typeface="Times New Roman" panose="02020603050405020304" pitchFamily="18" charset="0"/>
              </a:rPr>
              <a:t>1.5 million deaths annually. </a:t>
            </a:r>
          </a:p>
          <a:p>
            <a:pPr marL="571500" indent="-342900" algn="just">
              <a:lnSpc>
                <a:spcPct val="150000"/>
              </a:lnSpc>
              <a:buFont typeface="Arial" panose="020B0604020202020204" pitchFamily="34" charset="0"/>
              <a:buChar char="•"/>
            </a:pPr>
            <a:r>
              <a:rPr lang="en-US" sz="2200" b="0" dirty="0">
                <a:latin typeface="Times New Roman" panose="02020603050405020304" pitchFamily="18" charset="0"/>
                <a:cs typeface="Times New Roman" panose="02020603050405020304" pitchFamily="18" charset="0"/>
              </a:rPr>
              <a:t>Leads to severe </a:t>
            </a:r>
            <a:r>
              <a:rPr lang="en-US" sz="2200" dirty="0">
                <a:latin typeface="Times New Roman" panose="02020603050405020304" pitchFamily="18" charset="0"/>
                <a:cs typeface="Times New Roman" panose="02020603050405020304" pitchFamily="18" charset="0"/>
              </a:rPr>
              <a:t>complications</a:t>
            </a:r>
            <a:r>
              <a:rPr lang="en-US" sz="2200" b="0" dirty="0">
                <a:latin typeface="Times New Roman" panose="02020603050405020304" pitchFamily="18" charset="0"/>
                <a:cs typeface="Times New Roman" panose="02020603050405020304" pitchFamily="18" charset="0"/>
              </a:rPr>
              <a:t> like </a:t>
            </a:r>
            <a:r>
              <a:rPr lang="en-US" sz="2200" dirty="0">
                <a:latin typeface="Times New Roman" panose="02020603050405020304" pitchFamily="18" charset="0"/>
                <a:cs typeface="Times New Roman" panose="02020603050405020304" pitchFamily="18" charset="0"/>
              </a:rPr>
              <a:t>heart disease </a:t>
            </a:r>
            <a:r>
              <a:rPr lang="en-US" sz="2200" b="0" dirty="0">
                <a:latin typeface="Times New Roman" panose="02020603050405020304" pitchFamily="18" charset="0"/>
                <a:cs typeface="Times New Roman" panose="02020603050405020304" pitchFamily="18" charset="0"/>
              </a:rPr>
              <a:t>and </a:t>
            </a:r>
            <a:r>
              <a:rPr lang="en-US" sz="2200" dirty="0">
                <a:latin typeface="Times New Roman" panose="02020603050405020304" pitchFamily="18" charset="0"/>
                <a:cs typeface="Times New Roman" panose="02020603050405020304" pitchFamily="18" charset="0"/>
              </a:rPr>
              <a:t>kidney failure.</a:t>
            </a:r>
          </a:p>
          <a:p>
            <a:pPr marL="571500" indent="-342900" algn="just">
              <a:lnSpc>
                <a:spcPct val="150000"/>
              </a:lnSpc>
              <a:buFont typeface="Arial" panose="020B0604020202020204" pitchFamily="34" charset="0"/>
              <a:buChar char="•"/>
            </a:pPr>
            <a:r>
              <a:rPr lang="en-US" sz="2200" b="0" dirty="0">
                <a:latin typeface="Times New Roman" panose="02020603050405020304" pitchFamily="18" charset="0"/>
                <a:cs typeface="Times New Roman" panose="02020603050405020304" pitchFamily="18" charset="0"/>
              </a:rPr>
              <a:t>Current diagnostic methods often </a:t>
            </a:r>
            <a:r>
              <a:rPr lang="en-US" sz="2200" dirty="0">
                <a:latin typeface="Times New Roman" panose="02020603050405020304" pitchFamily="18" charset="0"/>
                <a:cs typeface="Times New Roman" panose="02020603050405020304" pitchFamily="18" charset="0"/>
              </a:rPr>
              <a:t>fail to identify high-risk individuals early </a:t>
            </a:r>
            <a:r>
              <a:rPr lang="en-US" sz="2200" b="0" dirty="0">
                <a:latin typeface="Times New Roman" panose="02020603050405020304" pitchFamily="18" charset="0"/>
                <a:cs typeface="Times New Roman" panose="02020603050405020304" pitchFamily="18" charset="0"/>
              </a:rPr>
              <a:t>enough.</a:t>
            </a:r>
          </a:p>
          <a:p>
            <a:pPr marL="228600" indent="0" algn="just">
              <a:lnSpc>
                <a:spcPct val="150000"/>
              </a:lnSpc>
            </a:pPr>
            <a:endParaRPr lang="en-US" b="0" dirty="0">
              <a:solidFill>
                <a:srgbClr val="FF0000"/>
              </a:solidFill>
            </a:endParaRPr>
          </a:p>
          <a:p>
            <a:pPr algn="just">
              <a:lnSpc>
                <a:spcPct val="150000"/>
              </a:lnSpc>
            </a:pPr>
            <a:r>
              <a:rPr lang="en-US" sz="2800" b="0" u="sng" dirty="0">
                <a:solidFill>
                  <a:schemeClr val="bg2">
                    <a:lumMod val="60000"/>
                    <a:lumOff val="40000"/>
                  </a:schemeClr>
                </a:solidFill>
              </a:rPr>
              <a:t>REQUIREMENT: </a:t>
            </a:r>
            <a:endParaRPr lang="en-US" sz="2800" b="0" u="sng" dirty="0">
              <a:solidFill>
                <a:srgbClr val="FF0000"/>
              </a:solidFill>
            </a:endParaRPr>
          </a:p>
          <a:p>
            <a:pPr algn="just">
              <a:lnSpc>
                <a:spcPct val="150000"/>
              </a:lnSpc>
            </a:pPr>
            <a:r>
              <a:rPr lang="en-US" b="0" dirty="0"/>
              <a:t>    </a:t>
            </a:r>
            <a:r>
              <a:rPr lang="en-US" sz="2200" b="0" dirty="0"/>
              <a:t>Urgent need for an efficient, machine learning based predictive tool that </a:t>
            </a:r>
            <a:r>
              <a:rPr lang="en-US" sz="2200" dirty="0"/>
              <a:t>provide early risk assessment </a:t>
            </a:r>
            <a:r>
              <a:rPr lang="en-US" sz="2200" b="0" dirty="0"/>
              <a:t>and </a:t>
            </a:r>
            <a:r>
              <a:rPr lang="en-US" sz="2200" dirty="0"/>
              <a:t>supportive</a:t>
            </a:r>
            <a:r>
              <a:rPr lang="en-US" sz="2200" b="0" dirty="0"/>
              <a:t> </a:t>
            </a:r>
            <a:r>
              <a:rPr lang="en-US" sz="2200" dirty="0"/>
              <a:t>preventive healthcare.</a:t>
            </a:r>
            <a:endParaRPr lang="en-US" sz="2200" dirty="0">
              <a:solidFill>
                <a:srgbClr val="FF0000"/>
              </a:solidFill>
            </a:endParaRPr>
          </a:p>
          <a:p>
            <a:pPr marL="228600" indent="0" algn="just">
              <a:lnSpc>
                <a:spcPct val="150000"/>
              </a:lnSpc>
            </a:pPr>
            <a:endParaRPr lang="en-US" b="0" dirty="0">
              <a:solidFill>
                <a:srgbClr val="FF0000"/>
              </a:solidFill>
            </a:endParaRPr>
          </a:p>
          <a:p>
            <a:pPr marL="571500" indent="-342900" algn="just">
              <a:buFont typeface="Arial" panose="020B0604020202020204" pitchFamily="34" charset="0"/>
              <a:buChar char="•"/>
            </a:pPr>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marL="571500" indent="-342900" algn="just">
              <a:buFont typeface="Arial" panose="020B0604020202020204" pitchFamily="34" charset="0"/>
              <a:buChar char="•"/>
            </a:pPr>
            <a:endParaRPr lang="en-US" dirty="0"/>
          </a:p>
          <a:p>
            <a:pPr algn="just"/>
            <a:endParaRPr lang="en-IN" dirty="0"/>
          </a:p>
        </p:txBody>
      </p:sp>
      <p:sp>
        <p:nvSpPr>
          <p:cNvPr id="2" name="TextBox 1"/>
          <p:cNvSpPr txBox="1"/>
          <p:nvPr/>
        </p:nvSpPr>
        <p:spPr>
          <a:xfrm>
            <a:off x="3869932" y="447131"/>
            <a:ext cx="6123709"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PROBLEM DESCRIPTION</a:t>
            </a:r>
            <a:endParaRPr lang="en-US" sz="3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578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2" name="Title 1"/>
          <p:cNvSpPr>
            <a:spLocks noGrp="1"/>
          </p:cNvSpPr>
          <p:nvPr>
            <p:ph type="title"/>
          </p:nvPr>
        </p:nvSpPr>
        <p:spPr>
          <a:xfrm>
            <a:off x="1160981" y="579371"/>
            <a:ext cx="8669886" cy="984885"/>
          </a:xfrm>
        </p:spPr>
        <p:txBody>
          <a:bodyPr/>
          <a:lstStyle/>
          <a:p>
            <a:r>
              <a:rPr lang="en-IN" sz="3200" dirty="0">
                <a:latin typeface="Arial Rounded MT Bold" pitchFamily="34" charset="0"/>
              </a:rPr>
              <a:t>                                 </a:t>
            </a:r>
            <a:r>
              <a:rPr lang="en-IN" sz="3200" dirty="0">
                <a:latin typeface="Times New Roman" pitchFamily="18" charset="0"/>
              </a:rPr>
              <a:t>DOMAIN OVERVIEW</a:t>
            </a:r>
          </a:p>
        </p:txBody>
      </p:sp>
      <p:sp>
        <p:nvSpPr>
          <p:cNvPr id="3" name="Text Placeholder 2"/>
          <p:cNvSpPr>
            <a:spLocks noGrp="1"/>
          </p:cNvSpPr>
          <p:nvPr>
            <p:ph type="body" idx="1"/>
          </p:nvPr>
        </p:nvSpPr>
        <p:spPr>
          <a:xfrm>
            <a:off x="1531571" y="1261871"/>
            <a:ext cx="9576129" cy="5386090"/>
          </a:xfrm>
        </p:spPr>
        <p:txBody>
          <a:bodyPr/>
          <a:lstStyle/>
          <a:p>
            <a:pPr marL="228600" indent="0"/>
            <a:r>
              <a:rPr lang="en-IN" sz="2400" dirty="0">
                <a:solidFill>
                  <a:schemeClr val="bg2">
                    <a:lumMod val="60000"/>
                    <a:lumOff val="40000"/>
                  </a:schemeClr>
                </a:solidFill>
              </a:rPr>
              <a:t>CLINICAL SIGNIFICANCE</a:t>
            </a:r>
          </a:p>
          <a:p>
            <a:pPr marL="228600" indent="0"/>
            <a:r>
              <a:rPr lang="en-IN" b="0" dirty="0"/>
              <a:t>	</a:t>
            </a:r>
            <a:r>
              <a:rPr lang="en-IN" sz="2200" dirty="0"/>
              <a:t>Early detection </a:t>
            </a:r>
            <a:r>
              <a:rPr lang="en-IN" sz="2200" b="0" dirty="0"/>
              <a:t>is critical to prevent these outcomes.</a:t>
            </a:r>
          </a:p>
          <a:p>
            <a:pPr marL="228600" indent="0"/>
            <a:endParaRPr lang="en-IN" b="0" dirty="0"/>
          </a:p>
          <a:p>
            <a:pPr marL="228600" indent="0"/>
            <a:r>
              <a:rPr lang="en-IN" sz="2400" b="1" dirty="0">
                <a:solidFill>
                  <a:schemeClr val="bg2">
                    <a:lumMod val="60000"/>
                    <a:lumOff val="40000"/>
                  </a:schemeClr>
                </a:solidFill>
              </a:rPr>
              <a:t>KEY CLINICAL DIAGNOSTIC MARKERS</a:t>
            </a:r>
          </a:p>
          <a:p>
            <a:pPr marL="228600" indent="0"/>
            <a:r>
              <a:rPr lang="en-IN" sz="2200" b="0" dirty="0"/>
              <a:t>        The </a:t>
            </a:r>
            <a:r>
              <a:rPr lang="en-IN" sz="2200" dirty="0"/>
              <a:t>primary diagnostic thresholds </a:t>
            </a:r>
            <a:r>
              <a:rPr lang="en-IN" sz="2200" b="0" dirty="0"/>
              <a:t>used by medical professionals are</a:t>
            </a:r>
          </a:p>
          <a:p>
            <a:pPr marL="228600" indent="0"/>
            <a:endParaRPr lang="en-IN" b="0" dirty="0"/>
          </a:p>
          <a:p>
            <a:pPr marL="228600" indent="0"/>
            <a:endParaRPr lang="en-IN" b="0" dirty="0"/>
          </a:p>
          <a:p>
            <a:pPr marL="228600" indent="0"/>
            <a:endParaRPr lang="en-IN" b="0" dirty="0"/>
          </a:p>
          <a:p>
            <a:pPr marL="228600" indent="0"/>
            <a:endParaRPr lang="en-IN" b="0" dirty="0"/>
          </a:p>
          <a:p>
            <a:pPr marL="228600" indent="0"/>
            <a:endParaRPr lang="en-IN" b="0" dirty="0"/>
          </a:p>
          <a:p>
            <a:pPr marL="228600" indent="0"/>
            <a:endParaRPr lang="en-IN" sz="2400" b="1" dirty="0">
              <a:solidFill>
                <a:schemeClr val="bg2">
                  <a:lumMod val="60000"/>
                  <a:lumOff val="40000"/>
                </a:schemeClr>
              </a:solidFill>
            </a:endParaRPr>
          </a:p>
          <a:p>
            <a:pPr marL="228600" indent="0"/>
            <a:endParaRPr lang="en-IN" sz="2400" b="1" dirty="0">
              <a:solidFill>
                <a:schemeClr val="bg2">
                  <a:lumMod val="60000"/>
                  <a:lumOff val="40000"/>
                </a:schemeClr>
              </a:solidFill>
            </a:endParaRPr>
          </a:p>
          <a:p>
            <a:pPr marL="228600" indent="0"/>
            <a:r>
              <a:rPr lang="en-IN" sz="2400" b="1" dirty="0">
                <a:solidFill>
                  <a:schemeClr val="bg2">
                    <a:lumMod val="60000"/>
                    <a:lumOff val="40000"/>
                  </a:schemeClr>
                </a:solidFill>
              </a:rPr>
              <a:t>ROLE OF MACHINE LEARNING</a:t>
            </a:r>
          </a:p>
          <a:p>
            <a:pPr marL="228600" indent="0"/>
            <a:r>
              <a:rPr lang="en-IN" b="0" dirty="0"/>
              <a:t>	</a:t>
            </a:r>
            <a:r>
              <a:rPr lang="en-IN" sz="2200" dirty="0"/>
              <a:t>Machine Learning </a:t>
            </a:r>
            <a:r>
              <a:rPr lang="en-IN" sz="2200" b="0" dirty="0"/>
              <a:t>can </a:t>
            </a:r>
            <a:r>
              <a:rPr lang="en-IN" sz="2200" dirty="0"/>
              <a:t>identify complex patterns in patient clinical data</a:t>
            </a:r>
            <a:r>
              <a:rPr lang="en-IN" sz="2200" b="0" dirty="0"/>
              <a:t>, enabling automated and scalable early risk prediction that complements clinical decision-making.</a:t>
            </a:r>
          </a:p>
        </p:txBody>
      </p:sp>
      <p:graphicFrame>
        <p:nvGraphicFramePr>
          <p:cNvPr id="5" name="Table 4">
            <a:extLst>
              <a:ext uri="{FF2B5EF4-FFF2-40B4-BE49-F238E27FC236}">
                <a16:creationId xmlns:a16="http://schemas.microsoft.com/office/drawing/2014/main" id="{1432A67F-24AB-06F7-169D-CCF6A3EC665B}"/>
              </a:ext>
            </a:extLst>
          </p:cNvPr>
          <p:cNvGraphicFramePr>
            <a:graphicFrameLocks noGrp="1"/>
          </p:cNvGraphicFramePr>
          <p:nvPr>
            <p:extLst>
              <p:ext uri="{D42A27DB-BD31-4B8C-83A1-F6EECF244321}">
                <p14:modId xmlns:p14="http://schemas.microsoft.com/office/powerpoint/2010/main" val="1584999927"/>
              </p:ext>
            </p:extLst>
          </p:nvPr>
        </p:nvGraphicFramePr>
        <p:xfrm>
          <a:off x="3328827" y="3110501"/>
          <a:ext cx="6133671" cy="1920240"/>
        </p:xfrm>
        <a:graphic>
          <a:graphicData uri="http://schemas.openxmlformats.org/drawingml/2006/table">
            <a:tbl>
              <a:tblPr firstRow="1" bandRow="1">
                <a:tableStyleId>{5C22544A-7EE6-4342-B048-85BDC9FD1C3A}</a:tableStyleId>
              </a:tblPr>
              <a:tblGrid>
                <a:gridCol w="1975312">
                  <a:extLst>
                    <a:ext uri="{9D8B030D-6E8A-4147-A177-3AD203B41FA5}">
                      <a16:colId xmlns:a16="http://schemas.microsoft.com/office/drawing/2014/main" val="745107355"/>
                    </a:ext>
                  </a:extLst>
                </a:gridCol>
                <a:gridCol w="2146602">
                  <a:extLst>
                    <a:ext uri="{9D8B030D-6E8A-4147-A177-3AD203B41FA5}">
                      <a16:colId xmlns:a16="http://schemas.microsoft.com/office/drawing/2014/main" val="4004035285"/>
                    </a:ext>
                  </a:extLst>
                </a:gridCol>
                <a:gridCol w="2011757">
                  <a:extLst>
                    <a:ext uri="{9D8B030D-6E8A-4147-A177-3AD203B41FA5}">
                      <a16:colId xmlns:a16="http://schemas.microsoft.com/office/drawing/2014/main" val="3776050754"/>
                    </a:ext>
                  </a:extLst>
                </a:gridCol>
              </a:tblGrid>
              <a:tr h="528263">
                <a:tc>
                  <a:txBody>
                    <a:bodyPr/>
                    <a:lstStyle/>
                    <a:p>
                      <a:r>
                        <a:rPr lang="en-IN" sz="1800" dirty="0">
                          <a:latin typeface="Times New Roman" panose="02020603050405020304" pitchFamily="18" charset="0"/>
                          <a:cs typeface="Times New Roman" panose="02020603050405020304" pitchFamily="18" charset="0"/>
                        </a:rPr>
                        <a:t>DIAGNOSTIC MARKER </a:t>
                      </a:r>
                    </a:p>
                  </a:txBody>
                  <a:tcPr/>
                </a:tc>
                <a:tc>
                  <a:txBody>
                    <a:bodyPr/>
                    <a:lstStyle/>
                    <a:p>
                      <a:r>
                        <a:rPr lang="en-IN" sz="1800" dirty="0">
                          <a:latin typeface="Times New Roman" panose="02020603050405020304" pitchFamily="18" charset="0"/>
                          <a:cs typeface="Times New Roman" panose="02020603050405020304" pitchFamily="18" charset="0"/>
                        </a:rPr>
                        <a:t>OPTIMAL RANGE</a:t>
                      </a:r>
                    </a:p>
                  </a:txBody>
                  <a:tcPr/>
                </a:tc>
                <a:tc>
                  <a:txBody>
                    <a:bodyPr/>
                    <a:lstStyle/>
                    <a:p>
                      <a:r>
                        <a:rPr lang="en-IN" sz="1800" dirty="0">
                          <a:latin typeface="Times New Roman" panose="02020603050405020304" pitchFamily="18" charset="0"/>
                          <a:cs typeface="Times New Roman" panose="02020603050405020304" pitchFamily="18" charset="0"/>
                        </a:rPr>
                        <a:t>DIABETICS RANGE</a:t>
                      </a:r>
                    </a:p>
                  </a:txBody>
                  <a:tcPr/>
                </a:tc>
                <a:extLst>
                  <a:ext uri="{0D108BD9-81ED-4DB2-BD59-A6C34878D82A}">
                    <a16:rowId xmlns:a16="http://schemas.microsoft.com/office/drawing/2014/main" val="3433141201"/>
                  </a:ext>
                </a:extLst>
              </a:tr>
              <a:tr h="528263">
                <a:tc>
                  <a:txBody>
                    <a:bodyPr/>
                    <a:lstStyle/>
                    <a:p>
                      <a:r>
                        <a:rPr lang="en-IN" sz="1800" b="1" dirty="0">
                          <a:latin typeface="Times New Roman" panose="02020603050405020304" pitchFamily="18" charset="0"/>
                          <a:cs typeface="Times New Roman" panose="02020603050405020304" pitchFamily="18" charset="0"/>
                        </a:rPr>
                        <a:t>HbA1c (Glycated Haemoglobin) </a:t>
                      </a:r>
                    </a:p>
                  </a:txBody>
                  <a:tcPr/>
                </a:tc>
                <a:tc>
                  <a:txBody>
                    <a:bodyPr/>
                    <a:lstStyle/>
                    <a:p>
                      <a:r>
                        <a:rPr lang="en-IN" sz="1800" b="1" dirty="0"/>
                        <a:t>Below 5.7%</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dirty="0"/>
                        <a:t>&gt;= 6.5% </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87412256"/>
                  </a:ext>
                </a:extLst>
              </a:tr>
              <a:tr h="528263">
                <a:tc>
                  <a:txBody>
                    <a:bodyPr/>
                    <a:lstStyle/>
                    <a:p>
                      <a:r>
                        <a:rPr lang="en-IN" sz="1800" b="1" dirty="0">
                          <a:latin typeface="Times New Roman" panose="02020603050405020304" pitchFamily="18" charset="0"/>
                          <a:cs typeface="Times New Roman" panose="02020603050405020304" pitchFamily="18" charset="0"/>
                        </a:rPr>
                        <a:t>Blood Glucose </a:t>
                      </a:r>
                    </a:p>
                  </a:txBody>
                  <a:tcPr/>
                </a:tc>
                <a:tc>
                  <a:txBody>
                    <a:bodyPr/>
                    <a:lstStyle/>
                    <a:p>
                      <a:r>
                        <a:rPr lang="en-IN" sz="1800" b="1" dirty="0"/>
                        <a:t>100 to 125 mg/dL </a:t>
                      </a:r>
                      <a:endParaRPr lang="en-IN" sz="1800" b="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00" b="1" dirty="0"/>
                        <a:t>&gt;= 126 mg/ dL</a:t>
                      </a:r>
                    </a:p>
                    <a:p>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409903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C3AE-E8FB-6585-268C-3EF376278D0A}"/>
              </a:ext>
            </a:extLst>
          </p:cNvPr>
          <p:cNvSpPr>
            <a:spLocks noGrp="1"/>
          </p:cNvSpPr>
          <p:nvPr>
            <p:ph type="title"/>
          </p:nvPr>
        </p:nvSpPr>
        <p:spPr>
          <a:xfrm>
            <a:off x="2941380" y="234862"/>
            <a:ext cx="7449184" cy="430887"/>
          </a:xfrm>
        </p:spPr>
        <p:txBody>
          <a:bodyPr/>
          <a:lstStyle/>
          <a:p>
            <a:pPr algn="ctr"/>
            <a:r>
              <a:rPr lang="en-US" sz="2800" dirty="0"/>
              <a:t>LITERATURE SURVEY</a:t>
            </a:r>
            <a:endParaRPr lang="en-IN" sz="2800" dirty="0"/>
          </a:p>
        </p:txBody>
      </p:sp>
      <p:graphicFrame>
        <p:nvGraphicFramePr>
          <p:cNvPr id="3" name="Table 2">
            <a:extLst>
              <a:ext uri="{FF2B5EF4-FFF2-40B4-BE49-F238E27FC236}">
                <a16:creationId xmlns:a16="http://schemas.microsoft.com/office/drawing/2014/main" id="{DBDA0F0B-06B0-F7E1-F20A-B4A0C441A71E}"/>
              </a:ext>
            </a:extLst>
          </p:cNvPr>
          <p:cNvGraphicFramePr>
            <a:graphicFrameLocks noGrp="1"/>
          </p:cNvGraphicFramePr>
          <p:nvPr>
            <p:extLst>
              <p:ext uri="{D42A27DB-BD31-4B8C-83A1-F6EECF244321}">
                <p14:modId xmlns:p14="http://schemas.microsoft.com/office/powerpoint/2010/main" val="4277011430"/>
              </p:ext>
            </p:extLst>
          </p:nvPr>
        </p:nvGraphicFramePr>
        <p:xfrm>
          <a:off x="1135781" y="914399"/>
          <a:ext cx="10828421" cy="5409049"/>
        </p:xfrm>
        <a:graphic>
          <a:graphicData uri="http://schemas.openxmlformats.org/drawingml/2006/table">
            <a:tbl>
              <a:tblPr firstRow="1" bandRow="1">
                <a:tableStyleId>{93296810-A885-4BE3-A3E7-6D5BEEA58F35}</a:tableStyleId>
              </a:tblPr>
              <a:tblGrid>
                <a:gridCol w="1708415">
                  <a:extLst>
                    <a:ext uri="{9D8B030D-6E8A-4147-A177-3AD203B41FA5}">
                      <a16:colId xmlns:a16="http://schemas.microsoft.com/office/drawing/2014/main" val="4098444108"/>
                    </a:ext>
                  </a:extLst>
                </a:gridCol>
                <a:gridCol w="2451420">
                  <a:extLst>
                    <a:ext uri="{9D8B030D-6E8A-4147-A177-3AD203B41FA5}">
                      <a16:colId xmlns:a16="http://schemas.microsoft.com/office/drawing/2014/main" val="1760583224"/>
                    </a:ext>
                  </a:extLst>
                </a:gridCol>
                <a:gridCol w="2490602">
                  <a:extLst>
                    <a:ext uri="{9D8B030D-6E8A-4147-A177-3AD203B41FA5}">
                      <a16:colId xmlns:a16="http://schemas.microsoft.com/office/drawing/2014/main" val="288516987"/>
                    </a:ext>
                  </a:extLst>
                </a:gridCol>
                <a:gridCol w="2490602">
                  <a:extLst>
                    <a:ext uri="{9D8B030D-6E8A-4147-A177-3AD203B41FA5}">
                      <a16:colId xmlns:a16="http://schemas.microsoft.com/office/drawing/2014/main" val="1092135273"/>
                    </a:ext>
                  </a:extLst>
                </a:gridCol>
                <a:gridCol w="1687382">
                  <a:extLst>
                    <a:ext uri="{9D8B030D-6E8A-4147-A177-3AD203B41FA5}">
                      <a16:colId xmlns:a16="http://schemas.microsoft.com/office/drawing/2014/main" val="2011437692"/>
                    </a:ext>
                  </a:extLst>
                </a:gridCol>
              </a:tblGrid>
              <a:tr h="745609">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RESOURCE</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FOCUS OF THE SOLUTION</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MODELS USED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DATASET USED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ACCURACY OBTAINED</a:t>
                      </a:r>
                    </a:p>
                  </a:txBody>
                  <a:tcPr/>
                </a:tc>
                <a:extLst>
                  <a:ext uri="{0D108BD9-81ED-4DB2-BD59-A6C34878D82A}">
                    <a16:rowId xmlns:a16="http://schemas.microsoft.com/office/drawing/2014/main" val="4294352197"/>
                  </a:ext>
                </a:extLst>
              </a:tr>
              <a:tr h="1466365">
                <a:tc>
                  <a:txBody>
                    <a:bodyPr/>
                    <a:lstStyle/>
                    <a:p>
                      <a:r>
                        <a:rPr lang="en-US" sz="1600" b="0" i="1" dirty="0">
                          <a:latin typeface="Times New Roman" panose="02020603050405020304" pitchFamily="18" charset="0"/>
                          <a:cs typeface="Times New Roman" panose="02020603050405020304" pitchFamily="18" charset="0"/>
                        </a:rPr>
                        <a:t>International Journal of Advanced Computer Science (2024)</a:t>
                      </a:r>
                      <a:endParaRPr lang="en-IN" sz="1600" b="0" i="1" dirty="0">
                        <a:latin typeface="Times New Roman" panose="02020603050405020304" pitchFamily="18" charset="0"/>
                        <a:cs typeface="Times New Roman" panose="02020603050405020304" pitchFamily="18" charset="0"/>
                      </a:endParaRPr>
                    </a:p>
                  </a:txBody>
                  <a:tcPr/>
                </a:tc>
                <a:tc>
                  <a:txBody>
                    <a:bodyPr/>
                    <a:lstStyle/>
                    <a:p>
                      <a:r>
                        <a:rPr lang="en-US" sz="1600" b="0" dirty="0">
                          <a:latin typeface="Times New Roman" panose="02020603050405020304" pitchFamily="18" charset="0"/>
                          <a:cs typeface="Times New Roman" panose="02020603050405020304" pitchFamily="18" charset="0"/>
                        </a:rPr>
                        <a:t>Enhancing diabetes prediction through </a:t>
                      </a:r>
                      <a:r>
                        <a:rPr lang="en-US" sz="1600" b="1" dirty="0">
                          <a:latin typeface="Times New Roman" panose="02020603050405020304" pitchFamily="18" charset="0"/>
                          <a:cs typeface="Times New Roman" panose="02020603050405020304" pitchFamily="18" charset="0"/>
                        </a:rPr>
                        <a:t>advanced feature engineering </a:t>
                      </a:r>
                      <a:r>
                        <a:rPr lang="en-US" sz="1600" b="0" dirty="0">
                          <a:latin typeface="Times New Roman" panose="02020603050405020304" pitchFamily="18" charset="0"/>
                          <a:cs typeface="Times New Roman" panose="02020603050405020304" pitchFamily="18" charset="0"/>
                        </a:rPr>
                        <a:t>(RFECV) and </a:t>
                      </a:r>
                      <a:r>
                        <a:rPr lang="en-US" sz="1600" b="1" dirty="0">
                          <a:latin typeface="Times New Roman" panose="02020603050405020304" pitchFamily="18" charset="0"/>
                          <a:cs typeface="Times New Roman" panose="02020603050405020304" pitchFamily="18" charset="0"/>
                        </a:rPr>
                        <a:t>hyperparameter tuning (</a:t>
                      </a:r>
                      <a:r>
                        <a:rPr lang="en-US" sz="1600" b="0" dirty="0" err="1">
                          <a:latin typeface="Times New Roman" panose="02020603050405020304" pitchFamily="18" charset="0"/>
                          <a:cs typeface="Times New Roman" panose="02020603050405020304" pitchFamily="18" charset="0"/>
                        </a:rPr>
                        <a:t>GridSearchCV</a:t>
                      </a:r>
                      <a:r>
                        <a:rPr lang="en-US" sz="1600" b="0" dirty="0">
                          <a:latin typeface="Times New Roman" panose="02020603050405020304" pitchFamily="18" charset="0"/>
                          <a:cs typeface="Times New Roman" panose="02020603050405020304" pitchFamily="18" charset="0"/>
                        </a:rPr>
                        <a:t>).</a:t>
                      </a:r>
                      <a:endParaRPr lang="en-IN" sz="1600" b="0" dirty="0">
                        <a:latin typeface="Times New Roman" panose="02020603050405020304" pitchFamily="18" charset="0"/>
                        <a:cs typeface="Times New Roman" panose="02020603050405020304" pitchFamily="18" charset="0"/>
                      </a:endParaRPr>
                    </a:p>
                  </a:txBody>
                  <a:tcPr/>
                </a:tc>
                <a:tc>
                  <a:txBody>
                    <a:bodyPr/>
                    <a:lstStyle/>
                    <a:p>
                      <a:r>
                        <a:rPr lang="en-US" sz="1600" b="0" dirty="0">
                          <a:latin typeface="Times New Roman" panose="02020603050405020304" pitchFamily="18" charset="0"/>
                          <a:cs typeface="Times New Roman" panose="02020603050405020304" pitchFamily="18" charset="0"/>
                        </a:rPr>
                        <a:t>Ensemble model using Random Forest, Gradient Boosting, </a:t>
                      </a:r>
                      <a:r>
                        <a:rPr lang="en-US" sz="1600" b="0" dirty="0" err="1">
                          <a:latin typeface="Times New Roman" panose="02020603050405020304" pitchFamily="18" charset="0"/>
                          <a:cs typeface="Times New Roman" panose="02020603050405020304" pitchFamily="18" charset="0"/>
                        </a:rPr>
                        <a:t>XGBoost</a:t>
                      </a:r>
                      <a:r>
                        <a:rPr lang="en-US" sz="1600" b="0" dirty="0">
                          <a:latin typeface="Times New Roman" panose="02020603050405020304" pitchFamily="18" charset="0"/>
                          <a:cs typeface="Times New Roman" panose="02020603050405020304" pitchFamily="18" charset="0"/>
                        </a:rPr>
                        <a:t>, </a:t>
                      </a:r>
                      <a:r>
                        <a:rPr lang="en-US" sz="1600" b="0" dirty="0" err="1">
                          <a:latin typeface="Times New Roman" panose="02020603050405020304" pitchFamily="18" charset="0"/>
                          <a:cs typeface="Times New Roman" panose="02020603050405020304" pitchFamily="18" charset="0"/>
                        </a:rPr>
                        <a:t>LightGBM</a:t>
                      </a:r>
                      <a:r>
                        <a:rPr lang="en-US" sz="1600" b="0" dirty="0">
                          <a:latin typeface="Times New Roman" panose="02020603050405020304" pitchFamily="18" charset="0"/>
                          <a:cs typeface="Times New Roman" panose="02020603050405020304" pitchFamily="18" charset="0"/>
                        </a:rPr>
                        <a:t>, and </a:t>
                      </a:r>
                      <a:r>
                        <a:rPr lang="en-US" sz="1600" b="0" dirty="0" err="1">
                          <a:latin typeface="Times New Roman" panose="02020603050405020304" pitchFamily="18" charset="0"/>
                          <a:cs typeface="Times New Roman" panose="02020603050405020304" pitchFamily="18" charset="0"/>
                        </a:rPr>
                        <a:t>CatBoost</a:t>
                      </a:r>
                      <a:endParaRPr lang="en-IN" sz="1600" b="0" dirty="0">
                        <a:latin typeface="Times New Roman" panose="02020603050405020304" pitchFamily="18" charset="0"/>
                        <a:cs typeface="Times New Roman" panose="02020603050405020304" pitchFamily="18" charset="0"/>
                      </a:endParaRPr>
                    </a:p>
                  </a:txBody>
                  <a:tcPr/>
                </a:tc>
                <a:tc>
                  <a:txBody>
                    <a:bodyPr/>
                    <a:lstStyle/>
                    <a:p>
                      <a:r>
                        <a:rPr lang="en-IN" sz="1600" b="0" dirty="0">
                          <a:latin typeface="Times New Roman" panose="02020603050405020304" pitchFamily="18" charset="0"/>
                          <a:cs typeface="Times New Roman" panose="02020603050405020304" pitchFamily="18" charset="0"/>
                        </a:rPr>
                        <a:t>PIMA Indians Dataset</a:t>
                      </a:r>
                    </a:p>
                  </a:txBody>
                  <a:tcPr/>
                </a:tc>
                <a:tc>
                  <a:txBody>
                    <a:bodyPr/>
                    <a:lstStyle/>
                    <a:p>
                      <a:r>
                        <a:rPr lang="en-IN" sz="1600" b="0" dirty="0">
                          <a:latin typeface="Times New Roman" panose="02020603050405020304" pitchFamily="18" charset="0"/>
                          <a:cs typeface="Times New Roman" panose="02020603050405020304" pitchFamily="18" charset="0"/>
                        </a:rPr>
                        <a:t>94% using </a:t>
                      </a:r>
                      <a:r>
                        <a:rPr lang="en-IN" sz="1600" b="0" dirty="0" err="1">
                          <a:latin typeface="Times New Roman" panose="02020603050405020304" pitchFamily="18" charset="0"/>
                          <a:cs typeface="Times New Roman" panose="02020603050405020304" pitchFamily="18" charset="0"/>
                        </a:rPr>
                        <a:t>XGBoost</a:t>
                      </a:r>
                      <a:r>
                        <a:rPr lang="en-IN" sz="1600" b="0" dirty="0">
                          <a:latin typeface="Times New Roman" panose="02020603050405020304" pitchFamily="18" charset="0"/>
                          <a:cs typeface="Times New Roman" panose="02020603050405020304" pitchFamily="18" charset="0"/>
                        </a:rPr>
                        <a:t> </a:t>
                      </a:r>
                    </a:p>
                  </a:txBody>
                  <a:tcPr/>
                </a:tc>
                <a:extLst>
                  <a:ext uri="{0D108BD9-81ED-4DB2-BD59-A6C34878D82A}">
                    <a16:rowId xmlns:a16="http://schemas.microsoft.com/office/drawing/2014/main" val="468752241"/>
                  </a:ext>
                </a:extLst>
              </a:tr>
              <a:tr h="166519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b="0" i="1" dirty="0">
                          <a:latin typeface="Times New Roman" panose="02020603050405020304" pitchFamily="18" charset="0"/>
                          <a:cs typeface="Times New Roman" panose="02020603050405020304" pitchFamily="18" charset="0"/>
                        </a:rPr>
                        <a:t>MDPI Diagnostics (2023)</a:t>
                      </a:r>
                    </a:p>
                    <a:p>
                      <a:endParaRPr lang="en-IN" sz="1600" b="0" i="1" dirty="0">
                        <a:latin typeface="Times New Roman" panose="02020603050405020304" pitchFamily="18" charset="0"/>
                        <a:cs typeface="Times New Roman" panose="02020603050405020304" pitchFamily="18" charset="0"/>
                      </a:endParaRPr>
                    </a:p>
                  </a:txBody>
                  <a:tcPr/>
                </a:tc>
                <a:tc>
                  <a:txBody>
                    <a:bodyPr/>
                    <a:lstStyle/>
                    <a:p>
                      <a:r>
                        <a:rPr lang="en-US" sz="1600" b="0" dirty="0">
                          <a:latin typeface="Times New Roman" panose="02020603050405020304" pitchFamily="18" charset="0"/>
                          <a:cs typeface="Times New Roman" panose="02020603050405020304" pitchFamily="18" charset="0"/>
                        </a:rPr>
                        <a:t>Addressing </a:t>
                      </a:r>
                      <a:r>
                        <a:rPr lang="en-US" sz="1600" b="1" dirty="0">
                          <a:latin typeface="Times New Roman" panose="02020603050405020304" pitchFamily="18" charset="0"/>
                          <a:cs typeface="Times New Roman" panose="02020603050405020304" pitchFamily="18" charset="0"/>
                        </a:rPr>
                        <a:t>dataset imbalance </a:t>
                      </a:r>
                      <a:r>
                        <a:rPr lang="en-US" sz="1600" b="0" dirty="0">
                          <a:latin typeface="Times New Roman" panose="02020603050405020304" pitchFamily="18" charset="0"/>
                          <a:cs typeface="Times New Roman" panose="02020603050405020304" pitchFamily="18" charset="0"/>
                        </a:rPr>
                        <a:t>and small sample sizes using </a:t>
                      </a:r>
                      <a:r>
                        <a:rPr lang="en-US" sz="1600" b="1" dirty="0">
                          <a:latin typeface="Times New Roman" panose="02020603050405020304" pitchFamily="18" charset="0"/>
                          <a:cs typeface="Times New Roman" panose="02020603050405020304" pitchFamily="18" charset="0"/>
                        </a:rPr>
                        <a:t>synthetic oversampling </a:t>
                      </a:r>
                      <a:r>
                        <a:rPr lang="en-US" sz="1600" b="0" dirty="0">
                          <a:latin typeface="Times New Roman" panose="02020603050405020304" pitchFamily="18" charset="0"/>
                          <a:cs typeface="Times New Roman" panose="02020603050405020304" pitchFamily="18" charset="0"/>
                        </a:rPr>
                        <a:t>(SMOTE) and dimensionality reduction (PCA).</a:t>
                      </a:r>
                      <a:endParaRPr lang="en-IN" sz="16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Bernoulli Naïve Bayes (BNB), Decision Tree, Logistic Regression, and SVM.</a:t>
                      </a:r>
                      <a:endParaRPr lang="en-US" sz="16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b="0" dirty="0">
                          <a:latin typeface="Times New Roman" panose="02020603050405020304" pitchFamily="18" charset="0"/>
                          <a:cs typeface="Times New Roman" panose="02020603050405020304" pitchFamily="18" charset="0"/>
                        </a:rPr>
                        <a:t>PIMA Indians Dataset</a:t>
                      </a:r>
                    </a:p>
                  </a:txBody>
                  <a:tcPr/>
                </a:tc>
                <a:tc>
                  <a:txBody>
                    <a:bodyPr/>
                    <a:lstStyle/>
                    <a:p>
                      <a:r>
                        <a:rPr lang="en-IN" sz="1600" b="0" dirty="0">
                          <a:latin typeface="Times New Roman" panose="02020603050405020304" pitchFamily="18" charset="0"/>
                          <a:cs typeface="Times New Roman" panose="02020603050405020304" pitchFamily="18" charset="0"/>
                        </a:rPr>
                        <a:t>79.6% - KNN with SMOTE</a:t>
                      </a:r>
                    </a:p>
                    <a:p>
                      <a:r>
                        <a:rPr lang="en-IN" sz="1600" b="0" dirty="0">
                          <a:latin typeface="Times New Roman" panose="02020603050405020304" pitchFamily="18" charset="0"/>
                          <a:cs typeface="Times New Roman" panose="02020603050405020304" pitchFamily="18" charset="0"/>
                        </a:rPr>
                        <a:t>77.2% - BNB</a:t>
                      </a:r>
                    </a:p>
                  </a:txBody>
                  <a:tcPr/>
                </a:tc>
                <a:extLst>
                  <a:ext uri="{0D108BD9-81ED-4DB2-BD59-A6C34878D82A}">
                    <a16:rowId xmlns:a16="http://schemas.microsoft.com/office/drawing/2014/main" val="1282218754"/>
                  </a:ext>
                </a:extLst>
              </a:tr>
              <a:tr h="1267536">
                <a:tc>
                  <a:txBody>
                    <a:bodyPr/>
                    <a:lstStyle/>
                    <a:p>
                      <a:r>
                        <a:rPr lang="en-US" sz="1600" b="0" i="1" dirty="0">
                          <a:latin typeface="Times New Roman" panose="02020603050405020304" pitchFamily="18" charset="0"/>
                          <a:cs typeface="Times New Roman" panose="02020603050405020304" pitchFamily="18" charset="0"/>
                        </a:rPr>
                        <a:t>International Journal of Scientific Research in CSE &amp; IT (2020)</a:t>
                      </a:r>
                      <a:endParaRPr lang="en-IN" sz="1600" b="0" i="1" dirty="0">
                        <a:latin typeface="Times New Roman" panose="02020603050405020304" pitchFamily="18" charset="0"/>
                        <a:cs typeface="Times New Roman" panose="02020603050405020304" pitchFamily="18" charset="0"/>
                      </a:endParaRPr>
                    </a:p>
                  </a:txBody>
                  <a:tcPr/>
                </a:tc>
                <a:tc>
                  <a:txBody>
                    <a:bodyPr/>
                    <a:lstStyle/>
                    <a:p>
                      <a:r>
                        <a:rPr lang="en-US" sz="1600" b="0" dirty="0">
                          <a:latin typeface="Times New Roman" panose="02020603050405020304" pitchFamily="18" charset="0"/>
                          <a:cs typeface="Times New Roman" panose="02020603050405020304" pitchFamily="18" charset="0"/>
                        </a:rPr>
                        <a:t>Early-stage diabetes prediction by </a:t>
                      </a:r>
                      <a:r>
                        <a:rPr lang="en-US" sz="1600" b="1" dirty="0">
                          <a:latin typeface="Times New Roman" panose="02020603050405020304" pitchFamily="18" charset="0"/>
                          <a:cs typeface="Times New Roman" panose="02020603050405020304" pitchFamily="18" charset="0"/>
                        </a:rPr>
                        <a:t>evaluating common classification algorithms</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0" dirty="0">
                          <a:latin typeface="Times New Roman" panose="02020603050405020304" pitchFamily="18" charset="0"/>
                          <a:cs typeface="Times New Roman" panose="02020603050405020304" pitchFamily="18" charset="0"/>
                        </a:rPr>
                        <a:t>K-Nearest Neighbor, Logistic Regression, Random Forest, SVM, and Decision Tree</a:t>
                      </a:r>
                      <a:endParaRPr lang="en-IN" sz="16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b="0" dirty="0">
                          <a:latin typeface="Times New Roman" panose="02020603050405020304" pitchFamily="18" charset="0"/>
                          <a:cs typeface="Times New Roman" panose="02020603050405020304" pitchFamily="18" charset="0"/>
                        </a:rPr>
                        <a:t>2000-case dataset</a:t>
                      </a:r>
                      <a:endParaRPr lang="en-US" sz="1600" b="0" dirty="0">
                        <a:latin typeface="Times New Roman" panose="02020603050405020304" pitchFamily="18" charset="0"/>
                        <a:cs typeface="Times New Roman" panose="02020603050405020304" pitchFamily="18" charset="0"/>
                      </a:endParaRPr>
                    </a:p>
                    <a:p>
                      <a:endParaRPr lang="en-IN" sz="1600" b="0" dirty="0">
                        <a:latin typeface="Times New Roman" panose="02020603050405020304" pitchFamily="18" charset="0"/>
                        <a:cs typeface="Times New Roman" panose="02020603050405020304" pitchFamily="18" charset="0"/>
                      </a:endParaRPr>
                    </a:p>
                  </a:txBody>
                  <a:tcPr/>
                </a:tc>
                <a:tc>
                  <a:txBody>
                    <a:bodyPr/>
                    <a:lstStyle/>
                    <a:p>
                      <a:r>
                        <a:rPr lang="en-IN" sz="1600" b="0" dirty="0">
                          <a:latin typeface="Times New Roman" panose="02020603050405020304" pitchFamily="18" charset="0"/>
                          <a:cs typeface="Times New Roman" panose="02020603050405020304" pitchFamily="18" charset="0"/>
                        </a:rPr>
                        <a:t>99% accuracy – Decision Tree </a:t>
                      </a:r>
                    </a:p>
                  </a:txBody>
                  <a:tcPr/>
                </a:tc>
                <a:extLst>
                  <a:ext uri="{0D108BD9-81ED-4DB2-BD59-A6C34878D82A}">
                    <a16:rowId xmlns:a16="http://schemas.microsoft.com/office/drawing/2014/main" val="2248738330"/>
                  </a:ext>
                </a:extLst>
              </a:tr>
            </a:tbl>
          </a:graphicData>
        </a:graphic>
      </p:graphicFrame>
    </p:spTree>
    <p:extLst>
      <p:ext uri="{BB962C8B-B14F-4D97-AF65-F5344CB8AC3E}">
        <p14:creationId xmlns:p14="http://schemas.microsoft.com/office/powerpoint/2010/main" val="1923047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2" name="Title 1"/>
          <p:cNvSpPr>
            <a:spLocks noGrp="1"/>
          </p:cNvSpPr>
          <p:nvPr>
            <p:ph type="title"/>
          </p:nvPr>
        </p:nvSpPr>
        <p:spPr>
          <a:xfrm>
            <a:off x="1826879" y="496151"/>
            <a:ext cx="7449184" cy="430887"/>
          </a:xfrm>
        </p:spPr>
        <p:txBody>
          <a:bodyPr/>
          <a:lstStyle/>
          <a:p>
            <a:pPr algn="ctr"/>
            <a:r>
              <a:rPr lang="en-IN" dirty="0">
                <a:latin typeface="Arial Rounded MT Bold" pitchFamily="34" charset="0"/>
              </a:rPr>
              <a:t>                              </a:t>
            </a:r>
            <a:r>
              <a:rPr lang="en-IN" sz="2800" dirty="0">
                <a:latin typeface="Times New Roman" pitchFamily="18" charset="0"/>
              </a:rPr>
              <a:t>DATASET DESCRIPTION</a:t>
            </a:r>
          </a:p>
        </p:txBody>
      </p:sp>
      <p:graphicFrame>
        <p:nvGraphicFramePr>
          <p:cNvPr id="7" name="Table 6">
            <a:extLst>
              <a:ext uri="{FF2B5EF4-FFF2-40B4-BE49-F238E27FC236}">
                <a16:creationId xmlns:a16="http://schemas.microsoft.com/office/drawing/2014/main" id="{D07A1437-BE5D-DB4C-51EB-ED2D320D7605}"/>
              </a:ext>
            </a:extLst>
          </p:cNvPr>
          <p:cNvGraphicFramePr>
            <a:graphicFrameLocks noGrp="1"/>
          </p:cNvGraphicFramePr>
          <p:nvPr>
            <p:extLst>
              <p:ext uri="{D42A27DB-BD31-4B8C-83A1-F6EECF244321}">
                <p14:modId xmlns:p14="http://schemas.microsoft.com/office/powerpoint/2010/main" val="3458253974"/>
              </p:ext>
            </p:extLst>
          </p:nvPr>
        </p:nvGraphicFramePr>
        <p:xfrm>
          <a:off x="3871073" y="1253922"/>
          <a:ext cx="8128000" cy="5201920"/>
        </p:xfrm>
        <a:graphic>
          <a:graphicData uri="http://schemas.openxmlformats.org/drawingml/2006/table">
            <a:tbl>
              <a:tblPr firstRow="1" bandRow="1">
                <a:tableStyleId>{5C22544A-7EE6-4342-B048-85BDC9FD1C3A}</a:tableStyleId>
              </a:tblPr>
              <a:tblGrid>
                <a:gridCol w="2211227">
                  <a:extLst>
                    <a:ext uri="{9D8B030D-6E8A-4147-A177-3AD203B41FA5}">
                      <a16:colId xmlns:a16="http://schemas.microsoft.com/office/drawing/2014/main" val="1244866507"/>
                    </a:ext>
                  </a:extLst>
                </a:gridCol>
                <a:gridCol w="1852773">
                  <a:extLst>
                    <a:ext uri="{9D8B030D-6E8A-4147-A177-3AD203B41FA5}">
                      <a16:colId xmlns:a16="http://schemas.microsoft.com/office/drawing/2014/main" val="2089120653"/>
                    </a:ext>
                  </a:extLst>
                </a:gridCol>
                <a:gridCol w="2032000">
                  <a:extLst>
                    <a:ext uri="{9D8B030D-6E8A-4147-A177-3AD203B41FA5}">
                      <a16:colId xmlns:a16="http://schemas.microsoft.com/office/drawing/2014/main" val="1086732567"/>
                    </a:ext>
                  </a:extLst>
                </a:gridCol>
                <a:gridCol w="2032000">
                  <a:extLst>
                    <a:ext uri="{9D8B030D-6E8A-4147-A177-3AD203B41FA5}">
                      <a16:colId xmlns:a16="http://schemas.microsoft.com/office/drawing/2014/main" val="2723039942"/>
                    </a:ext>
                  </a:extLst>
                </a:gridCol>
              </a:tblGrid>
              <a:tr h="370840">
                <a:tc>
                  <a:txBody>
                    <a:bodyPr/>
                    <a:lstStyle/>
                    <a:p>
                      <a:pPr algn="ctr">
                        <a:buNone/>
                      </a:pPr>
                      <a:r>
                        <a:rPr lang="en-IN" dirty="0">
                          <a:latin typeface="Times New Roman" panose="02020603050405020304" pitchFamily="18" charset="0"/>
                          <a:cs typeface="Times New Roman" panose="02020603050405020304" pitchFamily="18" charset="0"/>
                        </a:rPr>
                        <a:t>FEATURE</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TYPE</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RANGE</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CLINICAL RELEVANCE</a:t>
                      </a:r>
                    </a:p>
                  </a:txBody>
                  <a:tcPr anchor="ctr"/>
                </a:tc>
                <a:extLst>
                  <a:ext uri="{0D108BD9-81ED-4DB2-BD59-A6C34878D82A}">
                    <a16:rowId xmlns:a16="http://schemas.microsoft.com/office/drawing/2014/main" val="893756194"/>
                  </a:ext>
                </a:extLst>
              </a:tr>
              <a:tr h="370840">
                <a:tc>
                  <a:txBody>
                    <a:bodyPr/>
                    <a:lstStyle/>
                    <a:p>
                      <a:pPr>
                        <a:buNone/>
                      </a:pPr>
                      <a:r>
                        <a:rPr lang="en-IN" sz="1800" dirty="0">
                          <a:latin typeface="Times New Roman" panose="02020603050405020304" pitchFamily="18" charset="0"/>
                          <a:cs typeface="Times New Roman" panose="02020603050405020304" pitchFamily="18" charset="0"/>
                        </a:rPr>
                        <a:t>gender</a:t>
                      </a:r>
                    </a:p>
                  </a:txBody>
                  <a:tcPr anchor="ctr"/>
                </a:tc>
                <a:tc>
                  <a:txBody>
                    <a:bodyPr/>
                    <a:lstStyle/>
                    <a:p>
                      <a:pPr>
                        <a:buNone/>
                      </a:pPr>
                      <a:r>
                        <a:rPr lang="en-IN" sz="1800">
                          <a:latin typeface="Times New Roman" panose="02020603050405020304" pitchFamily="18" charset="0"/>
                          <a:cs typeface="Times New Roman" panose="02020603050405020304" pitchFamily="18" charset="0"/>
                        </a:rPr>
                        <a:t>Categorical</a:t>
                      </a:r>
                    </a:p>
                  </a:txBody>
                  <a:tcPr anchor="ctr"/>
                </a:tc>
                <a:tc>
                  <a:txBody>
                    <a:bodyPr/>
                    <a:lstStyle/>
                    <a:p>
                      <a:pPr>
                        <a:buNone/>
                      </a:pPr>
                      <a:r>
                        <a:rPr lang="en-IN" sz="1800">
                          <a:latin typeface="Times New Roman" panose="02020603050405020304" pitchFamily="18" charset="0"/>
                          <a:cs typeface="Times New Roman" panose="02020603050405020304" pitchFamily="18" charset="0"/>
                        </a:rPr>
                        <a:t>Male / Female</a:t>
                      </a:r>
                    </a:p>
                  </a:txBody>
                  <a:tcPr anchor="ctr"/>
                </a:tc>
                <a:tc>
                  <a:txBody>
                    <a:bodyPr/>
                    <a:lstStyle/>
                    <a:p>
                      <a:pPr>
                        <a:buNone/>
                      </a:pPr>
                      <a:r>
                        <a:rPr lang="en-IN" sz="1800">
                          <a:latin typeface="Times New Roman" panose="02020603050405020304" pitchFamily="18" charset="0"/>
                          <a:cs typeface="Times New Roman" panose="02020603050405020304" pitchFamily="18" charset="0"/>
                        </a:rPr>
                        <a:t>Demographic factor</a:t>
                      </a:r>
                    </a:p>
                  </a:txBody>
                  <a:tcPr anchor="ctr"/>
                </a:tc>
                <a:extLst>
                  <a:ext uri="{0D108BD9-81ED-4DB2-BD59-A6C34878D82A}">
                    <a16:rowId xmlns:a16="http://schemas.microsoft.com/office/drawing/2014/main" val="1067984916"/>
                  </a:ext>
                </a:extLst>
              </a:tr>
              <a:tr h="370840">
                <a:tc>
                  <a:txBody>
                    <a:bodyPr/>
                    <a:lstStyle/>
                    <a:p>
                      <a:pPr>
                        <a:buNone/>
                      </a:pPr>
                      <a:r>
                        <a:rPr lang="en-IN" sz="1800">
                          <a:latin typeface="Times New Roman" panose="02020603050405020304" pitchFamily="18" charset="0"/>
                          <a:cs typeface="Times New Roman" panose="02020603050405020304" pitchFamily="18" charset="0"/>
                        </a:rPr>
                        <a:t>age</a:t>
                      </a:r>
                    </a:p>
                  </a:txBody>
                  <a:tcPr anchor="ctr"/>
                </a:tc>
                <a:tc>
                  <a:txBody>
                    <a:bodyPr/>
                    <a:lstStyle/>
                    <a:p>
                      <a:pPr>
                        <a:buNone/>
                      </a:pPr>
                      <a:r>
                        <a:rPr lang="en-IN" sz="1800">
                          <a:latin typeface="Times New Roman" panose="02020603050405020304" pitchFamily="18" charset="0"/>
                          <a:cs typeface="Times New Roman" panose="02020603050405020304" pitchFamily="18" charset="0"/>
                        </a:rPr>
                        <a:t>Continuous</a:t>
                      </a:r>
                    </a:p>
                  </a:txBody>
                  <a:tcPr anchor="ctr"/>
                </a:tc>
                <a:tc>
                  <a:txBody>
                    <a:bodyPr/>
                    <a:lstStyle/>
                    <a:p>
                      <a:pPr>
                        <a:buNone/>
                      </a:pPr>
                      <a:r>
                        <a:rPr lang="en-IN" sz="1800">
                          <a:latin typeface="Times New Roman" panose="02020603050405020304" pitchFamily="18" charset="0"/>
                          <a:cs typeface="Times New Roman" panose="02020603050405020304" pitchFamily="18" charset="0"/>
                        </a:rPr>
                        <a:t>1 – 80 years</a:t>
                      </a:r>
                    </a:p>
                  </a:txBody>
                  <a:tcPr anchor="ctr"/>
                </a:tc>
                <a:tc>
                  <a:txBody>
                    <a:bodyPr/>
                    <a:lstStyle/>
                    <a:p>
                      <a:pPr>
                        <a:buNone/>
                      </a:pPr>
                      <a:r>
                        <a:rPr lang="en-IN" sz="1800">
                          <a:latin typeface="Times New Roman" panose="02020603050405020304" pitchFamily="18" charset="0"/>
                          <a:cs typeface="Times New Roman" panose="02020603050405020304" pitchFamily="18" charset="0"/>
                        </a:rPr>
                        <a:t>Risk increases with age</a:t>
                      </a:r>
                    </a:p>
                  </a:txBody>
                  <a:tcPr anchor="ctr"/>
                </a:tc>
                <a:extLst>
                  <a:ext uri="{0D108BD9-81ED-4DB2-BD59-A6C34878D82A}">
                    <a16:rowId xmlns:a16="http://schemas.microsoft.com/office/drawing/2014/main" val="241672056"/>
                  </a:ext>
                </a:extLst>
              </a:tr>
              <a:tr h="370840">
                <a:tc>
                  <a:txBody>
                    <a:bodyPr/>
                    <a:lstStyle/>
                    <a:p>
                      <a:pPr>
                        <a:buNone/>
                      </a:pPr>
                      <a:r>
                        <a:rPr lang="en-IN" sz="1800">
                          <a:latin typeface="Times New Roman" panose="02020603050405020304" pitchFamily="18" charset="0"/>
                          <a:cs typeface="Times New Roman" panose="02020603050405020304" pitchFamily="18" charset="0"/>
                        </a:rPr>
                        <a:t>hypertension</a:t>
                      </a:r>
                    </a:p>
                  </a:txBody>
                  <a:tcPr anchor="ctr"/>
                </a:tc>
                <a:tc>
                  <a:txBody>
                    <a:bodyPr/>
                    <a:lstStyle/>
                    <a:p>
                      <a:pPr>
                        <a:buNone/>
                      </a:pPr>
                      <a:r>
                        <a:rPr lang="en-IN" sz="1800">
                          <a:latin typeface="Times New Roman" panose="02020603050405020304" pitchFamily="18" charset="0"/>
                          <a:cs typeface="Times New Roman" panose="02020603050405020304" pitchFamily="18" charset="0"/>
                        </a:rPr>
                        <a:t>Binary</a:t>
                      </a:r>
                    </a:p>
                  </a:txBody>
                  <a:tcPr anchor="ctr"/>
                </a:tc>
                <a:tc>
                  <a:txBody>
                    <a:bodyPr/>
                    <a:lstStyle/>
                    <a:p>
                      <a:pPr>
                        <a:buNone/>
                      </a:pPr>
                      <a:r>
                        <a:rPr lang="en-IN" sz="1800">
                          <a:latin typeface="Times New Roman" panose="02020603050405020304" pitchFamily="18" charset="0"/>
                          <a:cs typeface="Times New Roman" panose="02020603050405020304" pitchFamily="18" charset="0"/>
                        </a:rPr>
                        <a:t>0 / 1</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Known comorbidity</a:t>
                      </a:r>
                    </a:p>
                  </a:txBody>
                  <a:tcPr anchor="ctr"/>
                </a:tc>
                <a:extLst>
                  <a:ext uri="{0D108BD9-81ED-4DB2-BD59-A6C34878D82A}">
                    <a16:rowId xmlns:a16="http://schemas.microsoft.com/office/drawing/2014/main" val="2440367516"/>
                  </a:ext>
                </a:extLst>
              </a:tr>
              <a:tr h="370840">
                <a:tc>
                  <a:txBody>
                    <a:bodyPr/>
                    <a:lstStyle/>
                    <a:p>
                      <a:pPr>
                        <a:buNone/>
                      </a:pPr>
                      <a:r>
                        <a:rPr lang="en-IN" sz="1800">
                          <a:latin typeface="Times New Roman" panose="02020603050405020304" pitchFamily="18" charset="0"/>
                          <a:cs typeface="Times New Roman" panose="02020603050405020304" pitchFamily="18" charset="0"/>
                        </a:rPr>
                        <a:t>heart_disease</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Binary</a:t>
                      </a:r>
                    </a:p>
                  </a:txBody>
                  <a:tcPr anchor="ctr"/>
                </a:tc>
                <a:tc>
                  <a:txBody>
                    <a:bodyPr/>
                    <a:lstStyle/>
                    <a:p>
                      <a:pPr>
                        <a:buNone/>
                      </a:pPr>
                      <a:r>
                        <a:rPr lang="en-IN" sz="1800">
                          <a:latin typeface="Times New Roman" panose="02020603050405020304" pitchFamily="18" charset="0"/>
                          <a:cs typeface="Times New Roman" panose="02020603050405020304" pitchFamily="18" charset="0"/>
                        </a:rPr>
                        <a:t>0 / 1</a:t>
                      </a:r>
                    </a:p>
                  </a:txBody>
                  <a:tcPr anchor="ctr"/>
                </a:tc>
                <a:tc>
                  <a:txBody>
                    <a:bodyPr/>
                    <a:lstStyle/>
                    <a:p>
                      <a:pPr>
                        <a:buNone/>
                      </a:pPr>
                      <a:r>
                        <a:rPr lang="en-IN" sz="1800">
                          <a:latin typeface="Times New Roman" panose="02020603050405020304" pitchFamily="18" charset="0"/>
                          <a:cs typeface="Times New Roman" panose="02020603050405020304" pitchFamily="18" charset="0"/>
                        </a:rPr>
                        <a:t>Known comorbidity</a:t>
                      </a:r>
                    </a:p>
                  </a:txBody>
                  <a:tcPr anchor="ctr"/>
                </a:tc>
                <a:extLst>
                  <a:ext uri="{0D108BD9-81ED-4DB2-BD59-A6C34878D82A}">
                    <a16:rowId xmlns:a16="http://schemas.microsoft.com/office/drawing/2014/main" val="257632533"/>
                  </a:ext>
                </a:extLst>
              </a:tr>
              <a:tr h="370840">
                <a:tc>
                  <a:txBody>
                    <a:bodyPr/>
                    <a:lstStyle/>
                    <a:p>
                      <a:pPr>
                        <a:buNone/>
                      </a:pPr>
                      <a:r>
                        <a:rPr lang="en-IN" sz="1800" dirty="0" err="1">
                          <a:latin typeface="Times New Roman" panose="02020603050405020304" pitchFamily="18" charset="0"/>
                          <a:cs typeface="Times New Roman" panose="02020603050405020304" pitchFamily="18" charset="0"/>
                        </a:rPr>
                        <a:t>smoking_history</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800">
                          <a:latin typeface="Times New Roman" panose="02020603050405020304" pitchFamily="18" charset="0"/>
                          <a:cs typeface="Times New Roman" panose="02020603050405020304" pitchFamily="18" charset="0"/>
                        </a:rPr>
                        <a:t>Categorical</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4 categories</a:t>
                      </a:r>
                    </a:p>
                  </a:txBody>
                  <a:tcPr anchor="ctr"/>
                </a:tc>
                <a:tc>
                  <a:txBody>
                    <a:bodyPr/>
                    <a:lstStyle/>
                    <a:p>
                      <a:pPr>
                        <a:buNone/>
                      </a:pPr>
                      <a:r>
                        <a:rPr lang="en-IN" sz="1800">
                          <a:latin typeface="Times New Roman" panose="02020603050405020304" pitchFamily="18" charset="0"/>
                          <a:cs typeface="Times New Roman" panose="02020603050405020304" pitchFamily="18" charset="0"/>
                        </a:rPr>
                        <a:t>Lifestyle risk factor</a:t>
                      </a:r>
                    </a:p>
                  </a:txBody>
                  <a:tcPr anchor="ctr"/>
                </a:tc>
                <a:extLst>
                  <a:ext uri="{0D108BD9-81ED-4DB2-BD59-A6C34878D82A}">
                    <a16:rowId xmlns:a16="http://schemas.microsoft.com/office/drawing/2014/main" val="1539480203"/>
                  </a:ext>
                </a:extLst>
              </a:tr>
              <a:tr h="370840">
                <a:tc>
                  <a:txBody>
                    <a:bodyPr/>
                    <a:lstStyle/>
                    <a:p>
                      <a:pPr>
                        <a:buNone/>
                      </a:pPr>
                      <a:r>
                        <a:rPr lang="en-IN" sz="1800">
                          <a:latin typeface="Times New Roman" panose="02020603050405020304" pitchFamily="18" charset="0"/>
                          <a:cs typeface="Times New Roman" panose="02020603050405020304" pitchFamily="18" charset="0"/>
                        </a:rPr>
                        <a:t>bmi</a:t>
                      </a:r>
                    </a:p>
                  </a:txBody>
                  <a:tcPr anchor="ctr"/>
                </a:tc>
                <a:tc>
                  <a:txBody>
                    <a:bodyPr/>
                    <a:lstStyle/>
                    <a:p>
                      <a:pPr>
                        <a:buNone/>
                      </a:pPr>
                      <a:r>
                        <a:rPr lang="en-IN" sz="1800">
                          <a:latin typeface="Times New Roman" panose="02020603050405020304" pitchFamily="18" charset="0"/>
                          <a:cs typeface="Times New Roman" panose="02020603050405020304" pitchFamily="18" charset="0"/>
                        </a:rPr>
                        <a:t>Continuous</a:t>
                      </a:r>
                    </a:p>
                  </a:txBody>
                  <a:tcPr anchor="ctr"/>
                </a:tc>
                <a:tc>
                  <a:txBody>
                    <a:bodyPr/>
                    <a:lstStyle/>
                    <a:p>
                      <a:pPr>
                        <a:buNone/>
                      </a:pPr>
                      <a:r>
                        <a:rPr lang="en-IN" sz="1800">
                          <a:latin typeface="Times New Roman" panose="02020603050405020304" pitchFamily="18" charset="0"/>
                          <a:cs typeface="Times New Roman" panose="02020603050405020304" pitchFamily="18" charset="0"/>
                        </a:rPr>
                        <a:t>10.0 – 60.0</a:t>
                      </a:r>
                    </a:p>
                  </a:txBody>
                  <a:tcPr anchor="ctr"/>
                </a:tc>
                <a:tc>
                  <a:txBody>
                    <a:bodyPr/>
                    <a:lstStyle/>
                    <a:p>
                      <a:pPr>
                        <a:buNone/>
                      </a:pPr>
                      <a:r>
                        <a:rPr lang="en-US" sz="1800">
                          <a:latin typeface="Times New Roman" panose="02020603050405020304" pitchFamily="18" charset="0"/>
                          <a:cs typeface="Times New Roman" panose="02020603050405020304" pitchFamily="18" charset="0"/>
                        </a:rPr>
                        <a:t>Obesity linked to Type 2</a:t>
                      </a:r>
                    </a:p>
                  </a:txBody>
                  <a:tcPr anchor="ctr"/>
                </a:tc>
                <a:extLst>
                  <a:ext uri="{0D108BD9-81ED-4DB2-BD59-A6C34878D82A}">
                    <a16:rowId xmlns:a16="http://schemas.microsoft.com/office/drawing/2014/main" val="2658276245"/>
                  </a:ext>
                </a:extLst>
              </a:tr>
              <a:tr h="370840">
                <a:tc>
                  <a:txBody>
                    <a:bodyPr/>
                    <a:lstStyle/>
                    <a:p>
                      <a:pPr>
                        <a:buNone/>
                      </a:pPr>
                      <a:r>
                        <a:rPr lang="en-IN" sz="1800" b="1">
                          <a:solidFill>
                            <a:schemeClr val="accent2">
                              <a:lumMod val="50000"/>
                            </a:schemeClr>
                          </a:solidFill>
                          <a:latin typeface="Times New Roman" panose="02020603050405020304" pitchFamily="18" charset="0"/>
                          <a:cs typeface="Times New Roman" panose="02020603050405020304" pitchFamily="18" charset="0"/>
                        </a:rPr>
                        <a:t>HbA1c_level</a:t>
                      </a:r>
                    </a:p>
                  </a:txBody>
                  <a:tcPr anchor="ctr"/>
                </a:tc>
                <a:tc>
                  <a:txBody>
                    <a:bodyPr/>
                    <a:lstStyle/>
                    <a:p>
                      <a:pPr>
                        <a:buNone/>
                      </a:pPr>
                      <a:r>
                        <a:rPr lang="en-IN" sz="1800">
                          <a:latin typeface="Times New Roman" panose="02020603050405020304" pitchFamily="18" charset="0"/>
                          <a:cs typeface="Times New Roman" panose="02020603050405020304" pitchFamily="18" charset="0"/>
                        </a:rPr>
                        <a:t>Continuous</a:t>
                      </a:r>
                    </a:p>
                  </a:txBody>
                  <a:tcPr anchor="ctr"/>
                </a:tc>
                <a:tc>
                  <a:txBody>
                    <a:bodyPr/>
                    <a:lstStyle/>
                    <a:p>
                      <a:pPr>
                        <a:buNone/>
                      </a:pPr>
                      <a:r>
                        <a:rPr lang="en-IN" sz="1800">
                          <a:latin typeface="Times New Roman" panose="02020603050405020304" pitchFamily="18" charset="0"/>
                          <a:cs typeface="Times New Roman" panose="02020603050405020304" pitchFamily="18" charset="0"/>
                        </a:rPr>
                        <a:t>3.5 – 9.0%</a:t>
                      </a:r>
                    </a:p>
                  </a:txBody>
                  <a:tcPr anchor="ctr"/>
                </a:tc>
                <a:tc>
                  <a:txBody>
                    <a:bodyPr/>
                    <a:lstStyle/>
                    <a:p>
                      <a:pPr>
                        <a:buNone/>
                      </a:pPr>
                      <a:r>
                        <a:rPr lang="en-IN" sz="1800" b="1" dirty="0">
                          <a:latin typeface="Times New Roman" panose="02020603050405020304" pitchFamily="18" charset="0"/>
                          <a:cs typeface="Times New Roman" panose="02020603050405020304" pitchFamily="18" charset="0"/>
                        </a:rPr>
                        <a:t>Primary diagnostic marker</a:t>
                      </a:r>
                    </a:p>
                  </a:txBody>
                  <a:tcPr anchor="ctr"/>
                </a:tc>
                <a:extLst>
                  <a:ext uri="{0D108BD9-81ED-4DB2-BD59-A6C34878D82A}">
                    <a16:rowId xmlns:a16="http://schemas.microsoft.com/office/drawing/2014/main" val="3760645232"/>
                  </a:ext>
                </a:extLst>
              </a:tr>
              <a:tr h="370840">
                <a:tc>
                  <a:txBody>
                    <a:bodyPr/>
                    <a:lstStyle/>
                    <a:p>
                      <a:pPr>
                        <a:buNone/>
                      </a:pPr>
                      <a:r>
                        <a:rPr lang="en-IN" sz="1800" b="1" dirty="0" err="1">
                          <a:solidFill>
                            <a:schemeClr val="accent2">
                              <a:lumMod val="50000"/>
                            </a:schemeClr>
                          </a:solidFill>
                          <a:latin typeface="Times New Roman" panose="02020603050405020304" pitchFamily="18" charset="0"/>
                          <a:cs typeface="Times New Roman" panose="02020603050405020304" pitchFamily="18" charset="0"/>
                        </a:rPr>
                        <a:t>blood_glucose_level</a:t>
                      </a:r>
                      <a:endParaRPr lang="en-IN" sz="1800" b="1" dirty="0">
                        <a:solidFill>
                          <a:schemeClr val="accent2">
                            <a:lumMod val="5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1800">
                          <a:latin typeface="Times New Roman" panose="02020603050405020304" pitchFamily="18" charset="0"/>
                          <a:cs typeface="Times New Roman" panose="02020603050405020304" pitchFamily="18" charset="0"/>
                        </a:rPr>
                        <a:t>Continuous</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80 – 300 mg/dL</a:t>
                      </a:r>
                    </a:p>
                  </a:txBody>
                  <a:tcPr anchor="ctr"/>
                </a:tc>
                <a:tc>
                  <a:txBody>
                    <a:bodyPr/>
                    <a:lstStyle/>
                    <a:p>
                      <a:pPr>
                        <a:buNone/>
                      </a:pPr>
                      <a:r>
                        <a:rPr lang="en-IN" sz="1800" b="1" dirty="0">
                          <a:latin typeface="Times New Roman" panose="02020603050405020304" pitchFamily="18" charset="0"/>
                          <a:cs typeface="Times New Roman" panose="02020603050405020304" pitchFamily="18" charset="0"/>
                        </a:rPr>
                        <a:t>Primary diagnostic marker</a:t>
                      </a:r>
                    </a:p>
                  </a:txBody>
                  <a:tcPr anchor="ctr"/>
                </a:tc>
                <a:extLst>
                  <a:ext uri="{0D108BD9-81ED-4DB2-BD59-A6C34878D82A}">
                    <a16:rowId xmlns:a16="http://schemas.microsoft.com/office/drawing/2014/main" val="226069909"/>
                  </a:ext>
                </a:extLst>
              </a:tr>
              <a:tr h="370840">
                <a:tc>
                  <a:txBody>
                    <a:bodyPr/>
                    <a:lstStyle/>
                    <a:p>
                      <a:pPr>
                        <a:buNone/>
                      </a:pPr>
                      <a:r>
                        <a:rPr lang="en-IN" sz="1800">
                          <a:latin typeface="Times New Roman" panose="02020603050405020304" pitchFamily="18" charset="0"/>
                          <a:cs typeface="Times New Roman" panose="02020603050405020304" pitchFamily="18" charset="0"/>
                        </a:rPr>
                        <a:t>diabetes (target)</a:t>
                      </a:r>
                    </a:p>
                  </a:txBody>
                  <a:tcPr anchor="ctr"/>
                </a:tc>
                <a:tc>
                  <a:txBody>
                    <a:bodyPr/>
                    <a:lstStyle/>
                    <a:p>
                      <a:pPr>
                        <a:buNone/>
                      </a:pPr>
                      <a:r>
                        <a:rPr lang="en-IN" sz="1800">
                          <a:latin typeface="Times New Roman" panose="02020603050405020304" pitchFamily="18" charset="0"/>
                          <a:cs typeface="Times New Roman" panose="02020603050405020304" pitchFamily="18" charset="0"/>
                        </a:rPr>
                        <a:t>Binary</a:t>
                      </a:r>
                    </a:p>
                  </a:txBody>
                  <a:tcPr anchor="ctr"/>
                </a:tc>
                <a:tc>
                  <a:txBody>
                    <a:bodyPr/>
                    <a:lstStyle/>
                    <a:p>
                      <a:pPr>
                        <a:buNone/>
                      </a:pPr>
                      <a:r>
                        <a:rPr lang="en-IN" sz="1800">
                          <a:latin typeface="Times New Roman" panose="02020603050405020304" pitchFamily="18" charset="0"/>
                          <a:cs typeface="Times New Roman" panose="02020603050405020304" pitchFamily="18" charset="0"/>
                        </a:rPr>
                        <a:t>0 / 1</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Non-diabetic / Diabetic</a:t>
                      </a:r>
                    </a:p>
                  </a:txBody>
                  <a:tcPr anchor="ctr"/>
                </a:tc>
                <a:extLst>
                  <a:ext uri="{0D108BD9-81ED-4DB2-BD59-A6C34878D82A}">
                    <a16:rowId xmlns:a16="http://schemas.microsoft.com/office/drawing/2014/main" val="1815983169"/>
                  </a:ext>
                </a:extLst>
              </a:tr>
            </a:tbl>
          </a:graphicData>
        </a:graphic>
      </p:graphicFrame>
      <p:sp>
        <p:nvSpPr>
          <p:cNvPr id="8" name="TextBox 7">
            <a:extLst>
              <a:ext uri="{FF2B5EF4-FFF2-40B4-BE49-F238E27FC236}">
                <a16:creationId xmlns:a16="http://schemas.microsoft.com/office/drawing/2014/main" id="{BCE967B6-D8C7-DA97-9386-51E630C905EF}"/>
              </a:ext>
            </a:extLst>
          </p:cNvPr>
          <p:cNvSpPr txBox="1"/>
          <p:nvPr/>
        </p:nvSpPr>
        <p:spPr>
          <a:xfrm>
            <a:off x="1099335" y="1674688"/>
            <a:ext cx="2619910" cy="4154984"/>
          </a:xfrm>
          <a:prstGeom prst="rect">
            <a:avLst/>
          </a:prstGeom>
          <a:noFill/>
        </p:spPr>
        <p:txBody>
          <a:bodyPr wrap="square" rtlCol="0">
            <a:spAutoFit/>
          </a:bodyPr>
          <a:lstStyle/>
          <a:p>
            <a:pPr marL="514350" indent="-28575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SOURCE </a:t>
            </a:r>
            <a:r>
              <a:rPr lang="en-IN" sz="2200" dirty="0">
                <a:latin typeface="Times New Roman" panose="02020603050405020304" pitchFamily="18" charset="0"/>
                <a:cs typeface="Times New Roman" panose="02020603050405020304" pitchFamily="18" charset="0"/>
              </a:rPr>
              <a:t>: Kaggle</a:t>
            </a:r>
          </a:p>
          <a:p>
            <a:pPr marL="514350" indent="-28575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514350" indent="-28575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NO OF DATA: </a:t>
            </a:r>
            <a:r>
              <a:rPr lang="en-IN" sz="2200" dirty="0">
                <a:latin typeface="Times New Roman" panose="02020603050405020304" pitchFamily="18" charset="0"/>
                <a:cs typeface="Times New Roman" panose="02020603050405020304" pitchFamily="18" charset="0"/>
              </a:rPr>
              <a:t>100,000 patient records</a:t>
            </a:r>
          </a:p>
          <a:p>
            <a:pPr marL="228600"/>
            <a:r>
              <a:rPr lang="en-IN" sz="2200" dirty="0">
                <a:latin typeface="Times New Roman" panose="02020603050405020304" pitchFamily="18" charset="0"/>
                <a:cs typeface="Times New Roman" panose="02020603050405020304" pitchFamily="18" charset="0"/>
              </a:rPr>
              <a:t>  </a:t>
            </a:r>
          </a:p>
          <a:p>
            <a:pPr marL="514350" indent="-28575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NO OF FEATURES: </a:t>
            </a:r>
          </a:p>
          <a:p>
            <a:pPr marL="228600"/>
            <a:r>
              <a:rPr lang="en-IN" sz="2200" b="1"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8 input features + 1 target variable</a:t>
            </a:r>
          </a:p>
          <a:p>
            <a:pPr marL="285750" indent="-285750">
              <a:buFont typeface="Arial" panose="020B0604020202020204" pitchFamily="34" charset="0"/>
              <a:buChar char="•"/>
            </a:pPr>
            <a:endParaRPr lang="en-IN"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3E68F-4FB3-875B-234B-EA9644A40554}"/>
              </a:ext>
            </a:extLst>
          </p:cNvPr>
          <p:cNvSpPr>
            <a:spLocks noGrp="1"/>
          </p:cNvSpPr>
          <p:nvPr>
            <p:ph type="title"/>
          </p:nvPr>
        </p:nvSpPr>
        <p:spPr>
          <a:xfrm>
            <a:off x="1773343" y="1701037"/>
            <a:ext cx="9528229" cy="4308872"/>
          </a:xfrm>
        </p:spPr>
        <p:txBody>
          <a:bodyPr/>
          <a:lstStyle/>
          <a:p>
            <a:r>
              <a:rPr lang="en-US" sz="2800" b="0" dirty="0"/>
              <a:t>1. </a:t>
            </a:r>
            <a:r>
              <a:rPr lang="en-US" sz="2800" dirty="0"/>
              <a:t>100,000 records </a:t>
            </a:r>
            <a:r>
              <a:rPr lang="en-US" sz="2800" b="0" dirty="0"/>
              <a:t>which is </a:t>
            </a:r>
            <a:r>
              <a:rPr lang="en-US" sz="2800" dirty="0"/>
              <a:t>large enough </a:t>
            </a:r>
            <a:r>
              <a:rPr lang="en-US" sz="2800" b="0" dirty="0"/>
              <a:t>for </a:t>
            </a:r>
            <a:r>
              <a:rPr lang="en-US" sz="2800" dirty="0"/>
              <a:t>robust model training </a:t>
            </a:r>
            <a:r>
              <a:rPr lang="en-US" sz="2800" b="0" dirty="0"/>
              <a:t>and evaluation</a:t>
            </a:r>
            <a:br>
              <a:rPr lang="en-US" sz="2800" b="0" dirty="0"/>
            </a:br>
            <a:br>
              <a:rPr lang="en-US" sz="2800" b="0" dirty="0"/>
            </a:br>
            <a:r>
              <a:rPr lang="en-US" sz="2800" b="0" dirty="0"/>
              <a:t>2. Contains </a:t>
            </a:r>
            <a:r>
              <a:rPr lang="en-US" sz="2800" dirty="0"/>
              <a:t>real clinical biomarkers </a:t>
            </a:r>
            <a:r>
              <a:rPr lang="en-US" sz="2800" b="0" dirty="0"/>
              <a:t>- </a:t>
            </a:r>
            <a:r>
              <a:rPr lang="en-US" sz="2800" dirty="0"/>
              <a:t>HbA1c and blood glucose</a:t>
            </a:r>
            <a:r>
              <a:rPr lang="en-US" sz="2800" b="0" dirty="0"/>
              <a:t> which are the gold standard diagnostic features for diabetes</a:t>
            </a:r>
            <a:br>
              <a:rPr lang="en-US" sz="2800" b="0" dirty="0"/>
            </a:br>
            <a:br>
              <a:rPr lang="en-US" sz="2800" b="0" dirty="0"/>
            </a:br>
            <a:r>
              <a:rPr lang="en-US" sz="2800" b="0" dirty="0"/>
              <a:t>3. </a:t>
            </a:r>
            <a:r>
              <a:rPr lang="en-US" sz="2800" dirty="0"/>
              <a:t>Chosen over PIMA dataset </a:t>
            </a:r>
            <a:r>
              <a:rPr lang="en-US" sz="2800" b="0" dirty="0"/>
              <a:t>which has </a:t>
            </a:r>
            <a:r>
              <a:rPr lang="en-US" sz="2800" dirty="0"/>
              <a:t>only 768 records, </a:t>
            </a:r>
            <a:r>
              <a:rPr lang="en-US" sz="2800" b="0" dirty="0"/>
              <a:t>covers only females of one ethnic group, and contains impossible zero values in clinical features</a:t>
            </a:r>
            <a:br>
              <a:rPr lang="en-US" sz="2800" b="0" dirty="0"/>
            </a:br>
            <a:endParaRPr lang="en-IN" sz="2800" b="0" dirty="0"/>
          </a:p>
        </p:txBody>
      </p:sp>
      <p:sp>
        <p:nvSpPr>
          <p:cNvPr id="4" name="Text Placeholder 3">
            <a:extLst>
              <a:ext uri="{FF2B5EF4-FFF2-40B4-BE49-F238E27FC236}">
                <a16:creationId xmlns:a16="http://schemas.microsoft.com/office/drawing/2014/main" id="{1986AFF5-8F81-6322-2588-029427F621FB}"/>
              </a:ext>
            </a:extLst>
          </p:cNvPr>
          <p:cNvSpPr>
            <a:spLocks noGrp="1"/>
          </p:cNvSpPr>
          <p:nvPr>
            <p:ph type="body" idx="1"/>
          </p:nvPr>
        </p:nvSpPr>
        <p:spPr>
          <a:xfrm>
            <a:off x="2244113" y="794517"/>
            <a:ext cx="8314055" cy="492443"/>
          </a:xfrm>
        </p:spPr>
        <p:txBody>
          <a:bodyPr/>
          <a:lstStyle/>
          <a:p>
            <a:pPr algn="ctr"/>
            <a:r>
              <a:rPr lang="en-US" sz="3200" dirty="0"/>
              <a:t>WHY THIS DATASET ?</a:t>
            </a:r>
            <a:endParaRPr lang="en-IN" sz="3200" dirty="0"/>
          </a:p>
        </p:txBody>
      </p:sp>
    </p:spTree>
    <p:extLst>
      <p:ext uri="{BB962C8B-B14F-4D97-AF65-F5344CB8AC3E}">
        <p14:creationId xmlns:p14="http://schemas.microsoft.com/office/powerpoint/2010/main" val="255047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7032D-0647-923A-CAFB-61AA49F358C0}"/>
              </a:ext>
            </a:extLst>
          </p:cNvPr>
          <p:cNvSpPr>
            <a:spLocks noGrp="1"/>
          </p:cNvSpPr>
          <p:nvPr>
            <p:ph type="title"/>
          </p:nvPr>
        </p:nvSpPr>
        <p:spPr>
          <a:xfrm>
            <a:off x="2759663" y="766090"/>
            <a:ext cx="7449184" cy="430887"/>
          </a:xfrm>
        </p:spPr>
        <p:txBody>
          <a:bodyPr/>
          <a:lstStyle/>
          <a:p>
            <a:pPr algn="ctr"/>
            <a:r>
              <a:rPr lang="en-IN" sz="2800" dirty="0"/>
              <a:t>CLASS IMBALANCE IN THE DATASET</a:t>
            </a:r>
          </a:p>
        </p:txBody>
      </p:sp>
      <p:pic>
        <p:nvPicPr>
          <p:cNvPr id="7" name="Picture 6">
            <a:extLst>
              <a:ext uri="{FF2B5EF4-FFF2-40B4-BE49-F238E27FC236}">
                <a16:creationId xmlns:a16="http://schemas.microsoft.com/office/drawing/2014/main" id="{5DE64741-8364-5143-E06B-EC301AC35C6E}"/>
              </a:ext>
            </a:extLst>
          </p:cNvPr>
          <p:cNvPicPr>
            <a:picLocks noChangeAspect="1"/>
          </p:cNvPicPr>
          <p:nvPr/>
        </p:nvPicPr>
        <p:blipFill>
          <a:blip r:embed="rId2"/>
          <a:srcRect t="8430" r="37150"/>
          <a:stretch>
            <a:fillRect/>
          </a:stretch>
        </p:blipFill>
        <p:spPr>
          <a:xfrm>
            <a:off x="5176209" y="1604930"/>
            <a:ext cx="6658711" cy="4325421"/>
          </a:xfrm>
          <a:prstGeom prst="rect">
            <a:avLst/>
          </a:prstGeom>
        </p:spPr>
      </p:pic>
      <p:sp>
        <p:nvSpPr>
          <p:cNvPr id="9" name="TextBox 8">
            <a:extLst>
              <a:ext uri="{FF2B5EF4-FFF2-40B4-BE49-F238E27FC236}">
                <a16:creationId xmlns:a16="http://schemas.microsoft.com/office/drawing/2014/main" id="{7B2A5064-43BC-1F9C-2F0A-497A4FF9BF1A}"/>
              </a:ext>
            </a:extLst>
          </p:cNvPr>
          <p:cNvSpPr txBox="1"/>
          <p:nvPr/>
        </p:nvSpPr>
        <p:spPr>
          <a:xfrm>
            <a:off x="1470259" y="1959163"/>
            <a:ext cx="3342373" cy="3416320"/>
          </a:xfrm>
          <a:prstGeom prst="rect">
            <a:avLst/>
          </a:prstGeom>
          <a:noFill/>
        </p:spPr>
        <p:txBody>
          <a:bodyPr wrap="square">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91,500 Non-diabetic (91.5%)</a:t>
            </a:r>
            <a:r>
              <a:rPr lang="en-US"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8,500 Diabetic (8.5%)</a:t>
            </a:r>
            <a:r>
              <a:rPr lang="en-US"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Severe imbalance  addressed using SMOTE on training set only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78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7CD95-7B6C-45D3-5222-C0E288BF9818}"/>
              </a:ext>
            </a:extLst>
          </p:cNvPr>
          <p:cNvSpPr>
            <a:spLocks noGrp="1"/>
          </p:cNvSpPr>
          <p:nvPr>
            <p:ph type="title"/>
          </p:nvPr>
        </p:nvSpPr>
        <p:spPr>
          <a:xfrm>
            <a:off x="3026790" y="315321"/>
            <a:ext cx="7449184" cy="430887"/>
          </a:xfrm>
        </p:spPr>
        <p:txBody>
          <a:bodyPr/>
          <a:lstStyle/>
          <a:p>
            <a:pPr algn="ctr"/>
            <a:r>
              <a:rPr lang="en-IN" sz="2800" dirty="0"/>
              <a:t>FEATURE CORRELATION HEATMAP</a:t>
            </a:r>
          </a:p>
        </p:txBody>
      </p:sp>
      <p:sp>
        <p:nvSpPr>
          <p:cNvPr id="3" name="Text Placeholder 2">
            <a:extLst>
              <a:ext uri="{FF2B5EF4-FFF2-40B4-BE49-F238E27FC236}">
                <a16:creationId xmlns:a16="http://schemas.microsoft.com/office/drawing/2014/main" id="{AA9EE40A-7E08-DECA-298C-E7B7894D3511}"/>
              </a:ext>
            </a:extLst>
          </p:cNvPr>
          <p:cNvSpPr>
            <a:spLocks noGrp="1"/>
          </p:cNvSpPr>
          <p:nvPr>
            <p:ph type="body" idx="1"/>
          </p:nvPr>
        </p:nvSpPr>
        <p:spPr>
          <a:xfrm>
            <a:off x="1181527" y="1113623"/>
            <a:ext cx="10767317" cy="923330"/>
          </a:xfrm>
        </p:spPr>
        <p:txBody>
          <a:bodyPr/>
          <a:lstStyle/>
          <a:p>
            <a:pPr algn="ctr"/>
            <a:r>
              <a:rPr lang="en-US" b="0" dirty="0"/>
              <a:t>A correlation heatmap is used to visualize the relationship between features in a dataset using Pearson correlation coefficients. H</a:t>
            </a:r>
            <a:r>
              <a:rPr lang="en-US" dirty="0"/>
              <a:t>elps identify the most influential features for diabetes prediction. </a:t>
            </a:r>
            <a:endParaRPr lang="en-IN" b="0" dirty="0"/>
          </a:p>
        </p:txBody>
      </p:sp>
      <p:sp>
        <p:nvSpPr>
          <p:cNvPr id="4" name="TextBox 3">
            <a:extLst>
              <a:ext uri="{FF2B5EF4-FFF2-40B4-BE49-F238E27FC236}">
                <a16:creationId xmlns:a16="http://schemas.microsoft.com/office/drawing/2014/main" id="{1DB9DC9F-D68F-DE5B-2B1F-0674BE1B8C0A}"/>
              </a:ext>
            </a:extLst>
          </p:cNvPr>
          <p:cNvSpPr txBox="1"/>
          <p:nvPr/>
        </p:nvSpPr>
        <p:spPr>
          <a:xfrm>
            <a:off x="1195227" y="2073246"/>
            <a:ext cx="5369959" cy="3970318"/>
          </a:xfrm>
          <a:prstGeom prst="rect">
            <a:avLst/>
          </a:prstGeom>
          <a:noFill/>
        </p:spPr>
        <p:txBody>
          <a:bodyPr wrap="square" rtlCol="0">
            <a:spAutoFit/>
          </a:bodyPr>
          <a:lstStyle/>
          <a:p>
            <a:r>
              <a:rPr lang="en-US" sz="2100" b="1" dirty="0">
                <a:latin typeface="Times New Roman" panose="02020603050405020304" pitchFamily="18" charset="0"/>
                <a:cs typeface="Times New Roman" panose="02020603050405020304" pitchFamily="18" charset="0"/>
              </a:rPr>
              <a:t>HbA1c level (r = 0.42)</a:t>
            </a:r>
            <a:r>
              <a:rPr lang="en-US" sz="2100" dirty="0">
                <a:latin typeface="Times New Roman" panose="02020603050405020304" pitchFamily="18" charset="0"/>
                <a:cs typeface="Times New Roman" panose="02020603050405020304" pitchFamily="18" charset="0"/>
              </a:rPr>
              <a:t> showed the </a:t>
            </a:r>
            <a:r>
              <a:rPr lang="en-US" sz="2100" b="1" dirty="0">
                <a:latin typeface="Times New Roman" panose="02020603050405020304" pitchFamily="18" charset="0"/>
                <a:cs typeface="Times New Roman" panose="02020603050405020304" pitchFamily="18" charset="0"/>
              </a:rPr>
              <a:t>highest positive </a:t>
            </a:r>
            <a:r>
              <a:rPr lang="en-US" sz="2100" dirty="0">
                <a:latin typeface="Times New Roman" panose="02020603050405020304" pitchFamily="18" charset="0"/>
                <a:cs typeface="Times New Roman" panose="02020603050405020304" pitchFamily="18" charset="0"/>
              </a:rPr>
              <a:t>correlation with diabetes. </a:t>
            </a:r>
          </a:p>
          <a:p>
            <a:endParaRPr lang="en-US" sz="2100" b="1" dirty="0">
              <a:latin typeface="Times New Roman" panose="02020603050405020304" pitchFamily="18" charset="0"/>
              <a:cs typeface="Times New Roman" panose="02020603050405020304" pitchFamily="18" charset="0"/>
            </a:endParaRPr>
          </a:p>
          <a:p>
            <a:r>
              <a:rPr lang="en-US" sz="2100" b="1" dirty="0">
                <a:latin typeface="Times New Roman" panose="02020603050405020304" pitchFamily="18" charset="0"/>
                <a:cs typeface="Times New Roman" panose="02020603050405020304" pitchFamily="18" charset="0"/>
              </a:rPr>
              <a:t>Blood glucose level (r = 0.40)</a:t>
            </a:r>
            <a:r>
              <a:rPr lang="en-US" sz="2100" dirty="0">
                <a:latin typeface="Times New Roman" panose="02020603050405020304" pitchFamily="18" charset="0"/>
                <a:cs typeface="Times New Roman" panose="02020603050405020304" pitchFamily="18" charset="0"/>
              </a:rPr>
              <a:t> also exhibited a </a:t>
            </a:r>
            <a:r>
              <a:rPr lang="en-US" sz="2100" b="1" dirty="0">
                <a:latin typeface="Times New Roman" panose="02020603050405020304" pitchFamily="18" charset="0"/>
                <a:cs typeface="Times New Roman" panose="02020603050405020304" pitchFamily="18" charset="0"/>
              </a:rPr>
              <a:t>strong positive</a:t>
            </a:r>
            <a:r>
              <a:rPr lang="en-US" sz="2100" dirty="0">
                <a:latin typeface="Times New Roman" panose="02020603050405020304" pitchFamily="18" charset="0"/>
                <a:cs typeface="Times New Roman" panose="02020603050405020304" pitchFamily="18" charset="0"/>
              </a:rPr>
              <a:t> correlation with diabetes. </a:t>
            </a:r>
          </a:p>
          <a:p>
            <a:endParaRPr lang="en-US" sz="2100" b="1" dirty="0">
              <a:latin typeface="Times New Roman" panose="02020603050405020304" pitchFamily="18" charset="0"/>
              <a:cs typeface="Times New Roman" panose="02020603050405020304" pitchFamily="18" charset="0"/>
            </a:endParaRPr>
          </a:p>
          <a:p>
            <a:r>
              <a:rPr lang="en-US" sz="2100" b="1" dirty="0">
                <a:latin typeface="Times New Roman" panose="02020603050405020304" pitchFamily="18" charset="0"/>
                <a:cs typeface="Times New Roman" panose="02020603050405020304" pitchFamily="18" charset="0"/>
              </a:rPr>
              <a:t>Age (r = 0.26)</a:t>
            </a:r>
            <a:r>
              <a:rPr lang="en-US" sz="2100" dirty="0">
                <a:latin typeface="Times New Roman" panose="02020603050405020304" pitchFamily="18" charset="0"/>
                <a:cs typeface="Times New Roman" panose="02020603050405020304" pitchFamily="18" charset="0"/>
              </a:rPr>
              <a:t> and </a:t>
            </a:r>
            <a:r>
              <a:rPr lang="en-US" sz="2100" b="1" dirty="0">
                <a:latin typeface="Times New Roman" panose="02020603050405020304" pitchFamily="18" charset="0"/>
                <a:cs typeface="Times New Roman" panose="02020603050405020304" pitchFamily="18" charset="0"/>
              </a:rPr>
              <a:t>BMI (r = 0.21)</a:t>
            </a:r>
            <a:r>
              <a:rPr lang="en-US" sz="2100" dirty="0">
                <a:latin typeface="Times New Roman" panose="02020603050405020304" pitchFamily="18" charset="0"/>
                <a:cs typeface="Times New Roman" panose="02020603050405020304" pitchFamily="18" charset="0"/>
              </a:rPr>
              <a:t> showed moderate positive correlations.</a:t>
            </a:r>
          </a:p>
          <a:p>
            <a:endParaRPr lang="en-US" sz="2100" dirty="0">
              <a:latin typeface="Times New Roman" panose="02020603050405020304" pitchFamily="18" charset="0"/>
              <a:cs typeface="Times New Roman" panose="02020603050405020304" pitchFamily="18" charset="0"/>
            </a:endParaRPr>
          </a:p>
          <a:p>
            <a:r>
              <a:rPr lang="en-US" sz="2100" b="1" dirty="0">
                <a:latin typeface="Times New Roman" panose="02020603050405020304" pitchFamily="18" charset="0"/>
                <a:cs typeface="Times New Roman" panose="02020603050405020304" pitchFamily="18" charset="0"/>
              </a:rPr>
              <a:t>Gender</a:t>
            </a:r>
            <a:r>
              <a:rPr lang="en-US" sz="2100" dirty="0">
                <a:latin typeface="Times New Roman" panose="02020603050405020304" pitchFamily="18" charset="0"/>
                <a:cs typeface="Times New Roman" panose="02020603050405020304" pitchFamily="18" charset="0"/>
              </a:rPr>
              <a:t> and </a:t>
            </a:r>
            <a:r>
              <a:rPr lang="en-US" sz="2100" b="1" dirty="0">
                <a:latin typeface="Times New Roman" panose="02020603050405020304" pitchFamily="18" charset="0"/>
                <a:cs typeface="Times New Roman" panose="02020603050405020304" pitchFamily="18" charset="0"/>
              </a:rPr>
              <a:t>smoking history</a:t>
            </a:r>
            <a:r>
              <a:rPr lang="en-US" sz="2100" dirty="0">
                <a:latin typeface="Times New Roman" panose="02020603050405020304" pitchFamily="18" charset="0"/>
                <a:cs typeface="Times New Roman" panose="02020603050405020304" pitchFamily="18" charset="0"/>
              </a:rPr>
              <a:t> had near-zero correlations, indicating weak relationships with diabetes.</a:t>
            </a:r>
            <a:endParaRPr lang="en-IN" sz="21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73CE915-C1B6-9382-1205-7E21F8A6A86D}"/>
              </a:ext>
            </a:extLst>
          </p:cNvPr>
          <p:cNvPicPr>
            <a:picLocks noChangeAspect="1"/>
          </p:cNvPicPr>
          <p:nvPr/>
        </p:nvPicPr>
        <p:blipFill>
          <a:blip r:embed="rId2"/>
          <a:stretch>
            <a:fillRect/>
          </a:stretch>
        </p:blipFill>
        <p:spPr>
          <a:xfrm>
            <a:off x="6565185" y="1910114"/>
            <a:ext cx="5054773" cy="4632565"/>
          </a:xfrm>
          <a:prstGeom prst="rect">
            <a:avLst/>
          </a:prstGeom>
        </p:spPr>
      </p:pic>
    </p:spTree>
    <p:extLst>
      <p:ext uri="{BB962C8B-B14F-4D97-AF65-F5344CB8AC3E}">
        <p14:creationId xmlns:p14="http://schemas.microsoft.com/office/powerpoint/2010/main" val="1279343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705D-C18D-4863-10C0-FFE6ED3D5EA5}"/>
              </a:ext>
            </a:extLst>
          </p:cNvPr>
          <p:cNvSpPr>
            <a:spLocks noGrp="1"/>
          </p:cNvSpPr>
          <p:nvPr>
            <p:ph type="title"/>
          </p:nvPr>
        </p:nvSpPr>
        <p:spPr>
          <a:xfrm>
            <a:off x="3104243" y="870130"/>
            <a:ext cx="7449184" cy="430887"/>
          </a:xfrm>
        </p:spPr>
        <p:txBody>
          <a:bodyPr/>
          <a:lstStyle/>
          <a:p>
            <a:r>
              <a:rPr lang="en-IN" sz="2800" dirty="0"/>
              <a:t>WORKFLOW OF THE PROPOSED SYSTEM</a:t>
            </a:r>
          </a:p>
        </p:txBody>
      </p:sp>
      <p:pic>
        <p:nvPicPr>
          <p:cNvPr id="4" name="Picture 3">
            <a:extLst>
              <a:ext uri="{FF2B5EF4-FFF2-40B4-BE49-F238E27FC236}">
                <a16:creationId xmlns:a16="http://schemas.microsoft.com/office/drawing/2014/main" id="{0D267435-46E3-0EB2-4727-ED0132A08330}"/>
              </a:ext>
            </a:extLst>
          </p:cNvPr>
          <p:cNvPicPr>
            <a:picLocks noChangeAspect="1"/>
          </p:cNvPicPr>
          <p:nvPr/>
        </p:nvPicPr>
        <p:blipFill>
          <a:blip r:embed="rId2"/>
          <a:srcRect b="50216"/>
          <a:stretch>
            <a:fillRect/>
          </a:stretch>
        </p:blipFill>
        <p:spPr>
          <a:xfrm>
            <a:off x="1278428" y="1646877"/>
            <a:ext cx="5810287" cy="4466122"/>
          </a:xfrm>
          <a:prstGeom prst="rect">
            <a:avLst/>
          </a:prstGeom>
        </p:spPr>
      </p:pic>
      <p:pic>
        <p:nvPicPr>
          <p:cNvPr id="6" name="Picture 5">
            <a:extLst>
              <a:ext uri="{FF2B5EF4-FFF2-40B4-BE49-F238E27FC236}">
                <a16:creationId xmlns:a16="http://schemas.microsoft.com/office/drawing/2014/main" id="{9499DDED-A3BA-B836-6C72-837696CCDD9F}"/>
              </a:ext>
            </a:extLst>
          </p:cNvPr>
          <p:cNvPicPr>
            <a:picLocks noChangeAspect="1"/>
          </p:cNvPicPr>
          <p:nvPr/>
        </p:nvPicPr>
        <p:blipFill>
          <a:blip r:embed="rId2"/>
          <a:srcRect l="11532" t="51147" r="7752" b="1"/>
          <a:stretch>
            <a:fillRect/>
          </a:stretch>
        </p:blipFill>
        <p:spPr>
          <a:xfrm>
            <a:off x="6828835" y="1742173"/>
            <a:ext cx="4779234" cy="4466122"/>
          </a:xfrm>
          <a:prstGeom prst="rect">
            <a:avLst/>
          </a:prstGeom>
        </p:spPr>
      </p:pic>
    </p:spTree>
    <p:extLst>
      <p:ext uri="{BB962C8B-B14F-4D97-AF65-F5344CB8AC3E}">
        <p14:creationId xmlns:p14="http://schemas.microsoft.com/office/powerpoint/2010/main" val="1272180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D1BC87-A1B4-F26C-3F51-7969AD620B2B}"/>
              </a:ext>
            </a:extLst>
          </p:cNvPr>
          <p:cNvPicPr>
            <a:picLocks noChangeAspect="1"/>
          </p:cNvPicPr>
          <p:nvPr/>
        </p:nvPicPr>
        <p:blipFill>
          <a:blip r:embed="rId2"/>
          <a:stretch>
            <a:fillRect/>
          </a:stretch>
        </p:blipFill>
        <p:spPr>
          <a:xfrm>
            <a:off x="1220002" y="676701"/>
            <a:ext cx="10305288" cy="5699760"/>
          </a:xfrm>
          <a:prstGeom prst="rect">
            <a:avLst/>
          </a:prstGeom>
        </p:spPr>
      </p:pic>
    </p:spTree>
    <p:extLst>
      <p:ext uri="{BB962C8B-B14F-4D97-AF65-F5344CB8AC3E}">
        <p14:creationId xmlns:p14="http://schemas.microsoft.com/office/powerpoint/2010/main" val="454497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ED088-8F41-6F9F-F8F9-3CD732CC38AC}"/>
              </a:ext>
            </a:extLst>
          </p:cNvPr>
          <p:cNvSpPr>
            <a:spLocks noGrp="1"/>
          </p:cNvSpPr>
          <p:nvPr>
            <p:ph type="title"/>
          </p:nvPr>
        </p:nvSpPr>
        <p:spPr>
          <a:xfrm>
            <a:off x="2843262" y="334792"/>
            <a:ext cx="7449184" cy="754380"/>
          </a:xfrm>
        </p:spPr>
        <p:txBody>
          <a:bodyPr/>
          <a:lstStyle/>
          <a:p>
            <a:pPr algn="ctr"/>
            <a:r>
              <a:rPr lang="en-US" sz="2800" dirty="0"/>
              <a:t>DATA PREPROCESSING</a:t>
            </a:r>
            <a:endParaRPr lang="en-IN" sz="2800" dirty="0"/>
          </a:p>
        </p:txBody>
      </p:sp>
      <p:pic>
        <p:nvPicPr>
          <p:cNvPr id="8" name="Picture 7">
            <a:extLst>
              <a:ext uri="{FF2B5EF4-FFF2-40B4-BE49-F238E27FC236}">
                <a16:creationId xmlns:a16="http://schemas.microsoft.com/office/drawing/2014/main" id="{932EA625-FEF2-6FC3-43DA-5C1CCBB88876}"/>
              </a:ext>
            </a:extLst>
          </p:cNvPr>
          <p:cNvPicPr>
            <a:picLocks noChangeAspect="1"/>
          </p:cNvPicPr>
          <p:nvPr/>
        </p:nvPicPr>
        <p:blipFill>
          <a:blip r:embed="rId2"/>
          <a:srcRect l="14035" t="3146" r="12947" b="11910"/>
          <a:stretch>
            <a:fillRect/>
          </a:stretch>
        </p:blipFill>
        <p:spPr>
          <a:xfrm>
            <a:off x="4356216" y="944451"/>
            <a:ext cx="4181608" cy="5578757"/>
          </a:xfrm>
          <a:prstGeom prst="rect">
            <a:avLst/>
          </a:prstGeom>
        </p:spPr>
      </p:pic>
    </p:spTree>
    <p:extLst>
      <p:ext uri="{BB962C8B-B14F-4D97-AF65-F5344CB8AC3E}">
        <p14:creationId xmlns:p14="http://schemas.microsoft.com/office/powerpoint/2010/main" val="3762546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616A4-DD9F-C550-4C45-FEF9312D61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AEB82-D4CB-8E5B-4DA7-2C0488336DBC}"/>
              </a:ext>
            </a:extLst>
          </p:cNvPr>
          <p:cNvSpPr>
            <a:spLocks noGrp="1"/>
          </p:cNvSpPr>
          <p:nvPr>
            <p:ph type="title"/>
          </p:nvPr>
        </p:nvSpPr>
        <p:spPr>
          <a:xfrm>
            <a:off x="2738988" y="359018"/>
            <a:ext cx="7449184" cy="430887"/>
          </a:xfrm>
        </p:spPr>
        <p:txBody>
          <a:bodyPr/>
          <a:lstStyle/>
          <a:p>
            <a:pPr algn="ctr"/>
            <a:r>
              <a:rPr lang="en-US" sz="2800" dirty="0"/>
              <a:t>TEST AND TRAIN DATA SPLIT</a:t>
            </a:r>
            <a:endParaRPr lang="en-IN" sz="2800" dirty="0"/>
          </a:p>
        </p:txBody>
      </p:sp>
      <p:sp>
        <p:nvSpPr>
          <p:cNvPr id="3" name="Text Placeholder 2">
            <a:extLst>
              <a:ext uri="{FF2B5EF4-FFF2-40B4-BE49-F238E27FC236}">
                <a16:creationId xmlns:a16="http://schemas.microsoft.com/office/drawing/2014/main" id="{672AC1B1-9900-5F65-8967-04FB4D8263BB}"/>
              </a:ext>
            </a:extLst>
          </p:cNvPr>
          <p:cNvSpPr>
            <a:spLocks noGrp="1"/>
          </p:cNvSpPr>
          <p:nvPr>
            <p:ph type="body" idx="1"/>
          </p:nvPr>
        </p:nvSpPr>
        <p:spPr>
          <a:xfrm>
            <a:off x="1512571" y="1106421"/>
            <a:ext cx="10251337" cy="2462213"/>
          </a:xfrm>
        </p:spPr>
        <p:txBody>
          <a:bodyPr/>
          <a:lstStyle/>
          <a:p>
            <a:pPr marL="571500" indent="-342900" algn="just">
              <a:buFont typeface="Arial" panose="020B0604020202020204" pitchFamily="34" charset="0"/>
              <a:buChar char="•"/>
            </a:pPr>
            <a:r>
              <a:rPr lang="en-US" b="0" dirty="0"/>
              <a:t>We split the 99,982 records into </a:t>
            </a:r>
            <a:r>
              <a:rPr lang="en-US" dirty="0"/>
              <a:t>80% for training -</a:t>
            </a:r>
            <a:r>
              <a:rPr lang="en-US" b="0" dirty="0"/>
              <a:t> about </a:t>
            </a:r>
            <a:r>
              <a:rPr lang="en-US" dirty="0"/>
              <a:t>79,985</a:t>
            </a:r>
            <a:r>
              <a:rPr lang="en-US" b="0" dirty="0"/>
              <a:t> rows and </a:t>
            </a:r>
            <a:r>
              <a:rPr lang="en-US" dirty="0"/>
              <a:t>20% for testing - </a:t>
            </a:r>
            <a:r>
              <a:rPr lang="en-US" b="0" dirty="0"/>
              <a:t>about </a:t>
            </a:r>
            <a:r>
              <a:rPr lang="en-US" dirty="0"/>
              <a:t>19,997</a:t>
            </a:r>
            <a:r>
              <a:rPr lang="en-US" b="0" dirty="0"/>
              <a:t> rows. </a:t>
            </a:r>
          </a:p>
          <a:p>
            <a:pPr marL="571500" indent="-342900" algn="just">
              <a:buFont typeface="Arial" panose="020B0604020202020204" pitchFamily="34" charset="0"/>
              <a:buChar char="•"/>
            </a:pPr>
            <a:endParaRPr lang="en-US" b="0" dirty="0"/>
          </a:p>
          <a:p>
            <a:pPr marL="571500" indent="-342900" algn="just">
              <a:buFont typeface="Arial" panose="020B0604020202020204" pitchFamily="34" charset="0"/>
              <a:buChar char="•"/>
            </a:pPr>
            <a:r>
              <a:rPr lang="en-US" b="0" dirty="0"/>
              <a:t>Then </a:t>
            </a:r>
            <a:r>
              <a:rPr lang="en-IN" dirty="0"/>
              <a:t>Synthetic Minority Over-sampling Technique (</a:t>
            </a:r>
            <a:r>
              <a:rPr lang="en-US" dirty="0"/>
              <a:t>SMOTE)</a:t>
            </a:r>
            <a:r>
              <a:rPr lang="en-US" b="0" dirty="0"/>
              <a:t> was applied on the training set only, growing it from </a:t>
            </a:r>
            <a:r>
              <a:rPr lang="en-US" dirty="0"/>
              <a:t>79,985 rows to 146,374</a:t>
            </a:r>
            <a:r>
              <a:rPr lang="en-US" b="0" dirty="0"/>
              <a:t> rows with a perfectly balanced 50/50 class distribution. </a:t>
            </a:r>
          </a:p>
          <a:p>
            <a:pPr marL="571500" indent="-342900" algn="just">
              <a:buFont typeface="Arial" panose="020B0604020202020204" pitchFamily="34" charset="0"/>
              <a:buChar char="•"/>
            </a:pPr>
            <a:endParaRPr lang="en-US" b="0" dirty="0"/>
          </a:p>
          <a:p>
            <a:pPr marL="571500" indent="-342900" algn="just">
              <a:buFont typeface="Arial" panose="020B0604020202020204" pitchFamily="34" charset="0"/>
              <a:buChar char="•"/>
            </a:pPr>
            <a:r>
              <a:rPr lang="en-US" b="0" dirty="0"/>
              <a:t>The test set remained completely untouched at its original 8.5% diabetic distribution.</a:t>
            </a:r>
            <a:endParaRPr lang="en-IN" sz="1400" dirty="0"/>
          </a:p>
        </p:txBody>
      </p:sp>
      <p:pic>
        <p:nvPicPr>
          <p:cNvPr id="4" name="Picture 3">
            <a:extLst>
              <a:ext uri="{FF2B5EF4-FFF2-40B4-BE49-F238E27FC236}">
                <a16:creationId xmlns:a16="http://schemas.microsoft.com/office/drawing/2014/main" id="{F5C64933-7DA3-234D-D610-0022AF8A46F0}"/>
              </a:ext>
            </a:extLst>
          </p:cNvPr>
          <p:cNvPicPr>
            <a:picLocks noChangeAspect="1"/>
          </p:cNvPicPr>
          <p:nvPr/>
        </p:nvPicPr>
        <p:blipFill>
          <a:blip r:embed="rId2"/>
          <a:stretch>
            <a:fillRect/>
          </a:stretch>
        </p:blipFill>
        <p:spPr>
          <a:xfrm>
            <a:off x="1932037" y="3659118"/>
            <a:ext cx="9831871" cy="3055963"/>
          </a:xfrm>
          <a:prstGeom prst="rect">
            <a:avLst/>
          </a:prstGeom>
        </p:spPr>
      </p:pic>
    </p:spTree>
    <p:extLst>
      <p:ext uri="{BB962C8B-B14F-4D97-AF65-F5344CB8AC3E}">
        <p14:creationId xmlns:p14="http://schemas.microsoft.com/office/powerpoint/2010/main" val="3641799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E9FE-6EAA-41C7-446B-9D85E604548C}"/>
              </a:ext>
            </a:extLst>
          </p:cNvPr>
          <p:cNvSpPr>
            <a:spLocks noGrp="1"/>
          </p:cNvSpPr>
          <p:nvPr>
            <p:ph type="title"/>
          </p:nvPr>
        </p:nvSpPr>
        <p:spPr>
          <a:xfrm>
            <a:off x="3026791" y="889380"/>
            <a:ext cx="7449184" cy="430887"/>
          </a:xfrm>
        </p:spPr>
        <p:txBody>
          <a:bodyPr/>
          <a:lstStyle/>
          <a:p>
            <a:r>
              <a:rPr lang="en-US" sz="2800" dirty="0"/>
              <a:t>EFFECT OF SMOTE ON TRAINING DATA</a:t>
            </a:r>
            <a:endParaRPr lang="en-IN" sz="2800" dirty="0"/>
          </a:p>
        </p:txBody>
      </p:sp>
      <p:pic>
        <p:nvPicPr>
          <p:cNvPr id="4" name="Picture 3">
            <a:extLst>
              <a:ext uri="{FF2B5EF4-FFF2-40B4-BE49-F238E27FC236}">
                <a16:creationId xmlns:a16="http://schemas.microsoft.com/office/drawing/2014/main" id="{9BC49589-9758-9D50-4E97-9C3A6044E0F4}"/>
              </a:ext>
            </a:extLst>
          </p:cNvPr>
          <p:cNvPicPr>
            <a:picLocks noChangeAspect="1"/>
          </p:cNvPicPr>
          <p:nvPr/>
        </p:nvPicPr>
        <p:blipFill>
          <a:blip r:embed="rId2"/>
          <a:srcRect r="32933"/>
          <a:stretch>
            <a:fillRect/>
          </a:stretch>
        </p:blipFill>
        <p:spPr>
          <a:xfrm>
            <a:off x="2065379" y="1851434"/>
            <a:ext cx="8883825" cy="4117186"/>
          </a:xfrm>
          <a:prstGeom prst="rect">
            <a:avLst/>
          </a:prstGeom>
        </p:spPr>
      </p:pic>
    </p:spTree>
    <p:extLst>
      <p:ext uri="{BB962C8B-B14F-4D97-AF65-F5344CB8AC3E}">
        <p14:creationId xmlns:p14="http://schemas.microsoft.com/office/powerpoint/2010/main" val="1401514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4D081-E8FF-54B2-8C05-AABC769C3F4A}"/>
              </a:ext>
            </a:extLst>
          </p:cNvPr>
          <p:cNvSpPr>
            <a:spLocks noGrp="1"/>
          </p:cNvSpPr>
          <p:nvPr>
            <p:ph type="title"/>
          </p:nvPr>
        </p:nvSpPr>
        <p:spPr>
          <a:xfrm>
            <a:off x="2527443" y="791110"/>
            <a:ext cx="7948532" cy="529157"/>
          </a:xfrm>
        </p:spPr>
        <p:txBody>
          <a:bodyPr/>
          <a:lstStyle/>
          <a:p>
            <a:pPr algn="ctr"/>
            <a:r>
              <a:rPr lang="en-IN" sz="2800" dirty="0"/>
              <a:t>EVALUATION METRICS</a:t>
            </a:r>
          </a:p>
        </p:txBody>
      </p:sp>
      <p:sp>
        <p:nvSpPr>
          <p:cNvPr id="3" name="Text Placeholder 2">
            <a:extLst>
              <a:ext uri="{FF2B5EF4-FFF2-40B4-BE49-F238E27FC236}">
                <a16:creationId xmlns:a16="http://schemas.microsoft.com/office/drawing/2014/main" id="{1BA5051C-2CF1-ECB6-4F4E-38A0A5A54E3B}"/>
              </a:ext>
            </a:extLst>
          </p:cNvPr>
          <p:cNvSpPr>
            <a:spLocks noGrp="1"/>
          </p:cNvSpPr>
          <p:nvPr>
            <p:ph type="body" idx="1"/>
          </p:nvPr>
        </p:nvSpPr>
        <p:spPr>
          <a:xfrm>
            <a:off x="1436549" y="1626723"/>
            <a:ext cx="10399280" cy="4801314"/>
          </a:xfrm>
        </p:spPr>
        <p:txBody>
          <a:bodyPr/>
          <a:lstStyle/>
          <a:p>
            <a:pPr algn="just"/>
            <a:r>
              <a:rPr lang="en-US" sz="2400" b="0" dirty="0"/>
              <a:t>	</a:t>
            </a:r>
            <a:r>
              <a:rPr lang="en-US" sz="2400" dirty="0"/>
              <a:t>Model performance </a:t>
            </a:r>
            <a:r>
              <a:rPr lang="en-US" sz="2400" b="0" dirty="0"/>
              <a:t>is </a:t>
            </a:r>
            <a:r>
              <a:rPr lang="en-US" sz="2400" dirty="0"/>
              <a:t>evaluated using a comprehensive set of metrics </a:t>
            </a:r>
            <a:r>
              <a:rPr lang="en-US" sz="2400" b="0" dirty="0"/>
              <a:t>that account for class imbalance and are clinically appropriate for binary medical classification. Accuracy alone is deliberately avoided – a classifier that predicts non-diabetic for every patient would achieve 91.5% accuracy.</a:t>
            </a:r>
          </a:p>
          <a:p>
            <a:pPr algn="just"/>
            <a:endParaRPr lang="en-US" sz="2400" b="0" dirty="0"/>
          </a:p>
          <a:p>
            <a:pPr algn="just"/>
            <a:r>
              <a:rPr lang="en-US" sz="2400" b="0" dirty="0"/>
              <a:t>	Evaluation Metrics used : </a:t>
            </a:r>
          </a:p>
          <a:p>
            <a:pPr algn="just"/>
            <a:endParaRPr lang="en-US" sz="2400" b="0" dirty="0"/>
          </a:p>
          <a:p>
            <a:pPr algn="just"/>
            <a:r>
              <a:rPr lang="en-US" sz="2400" b="0" dirty="0"/>
              <a:t>	1. Confusion Matrix</a:t>
            </a:r>
          </a:p>
          <a:p>
            <a:pPr algn="just"/>
            <a:r>
              <a:rPr lang="en-US" sz="2400" b="0" dirty="0"/>
              <a:t>	2. Precision</a:t>
            </a:r>
          </a:p>
          <a:p>
            <a:pPr algn="just"/>
            <a:r>
              <a:rPr lang="en-US" sz="2400" b="0" dirty="0"/>
              <a:t>	3. Recall </a:t>
            </a:r>
          </a:p>
          <a:p>
            <a:pPr algn="just"/>
            <a:r>
              <a:rPr lang="en-US" sz="2400" b="0" dirty="0"/>
              <a:t>	4. F1 Score</a:t>
            </a:r>
          </a:p>
          <a:p>
            <a:pPr algn="just"/>
            <a:r>
              <a:rPr lang="en-US" sz="2400" b="0" dirty="0"/>
              <a:t>	5. ROC-AUC (Receiver Operating Characteristic - Area Under the Curve)</a:t>
            </a:r>
          </a:p>
          <a:p>
            <a:pPr algn="just"/>
            <a:endParaRPr lang="en-IN" sz="2400" b="0" dirty="0"/>
          </a:p>
        </p:txBody>
      </p:sp>
    </p:spTree>
    <p:extLst>
      <p:ext uri="{BB962C8B-B14F-4D97-AF65-F5344CB8AC3E}">
        <p14:creationId xmlns:p14="http://schemas.microsoft.com/office/powerpoint/2010/main" val="4028969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B936D6-B9E5-C1E8-68C0-DEB00D6D03F5}"/>
              </a:ext>
            </a:extLst>
          </p:cNvPr>
          <p:cNvPicPr>
            <a:picLocks noChangeAspect="1"/>
          </p:cNvPicPr>
          <p:nvPr/>
        </p:nvPicPr>
        <p:blipFill>
          <a:blip r:embed="rId2"/>
          <a:stretch>
            <a:fillRect/>
          </a:stretch>
        </p:blipFill>
        <p:spPr>
          <a:xfrm>
            <a:off x="975475" y="1285868"/>
            <a:ext cx="11104880" cy="5435600"/>
          </a:xfrm>
          <a:prstGeom prst="rect">
            <a:avLst/>
          </a:prstGeom>
        </p:spPr>
      </p:pic>
      <p:sp>
        <p:nvSpPr>
          <p:cNvPr id="2" name="Title 1">
            <a:extLst>
              <a:ext uri="{FF2B5EF4-FFF2-40B4-BE49-F238E27FC236}">
                <a16:creationId xmlns:a16="http://schemas.microsoft.com/office/drawing/2014/main" id="{39CB3B57-08BC-5D15-9BCD-E973800F5ECF}"/>
              </a:ext>
            </a:extLst>
          </p:cNvPr>
          <p:cNvSpPr txBox="1">
            <a:spLocks/>
          </p:cNvSpPr>
          <p:nvPr/>
        </p:nvSpPr>
        <p:spPr>
          <a:xfrm>
            <a:off x="2913776" y="457865"/>
            <a:ext cx="7449184" cy="43088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2800" b="1" dirty="0">
                <a:latin typeface="Times New Roman" panose="02020603050405020304" pitchFamily="18" charset="0"/>
                <a:cs typeface="Times New Roman" panose="02020603050405020304" pitchFamily="18" charset="0"/>
              </a:rPr>
              <a:t>MODELS TRAINED </a:t>
            </a:r>
          </a:p>
        </p:txBody>
      </p:sp>
    </p:spTree>
    <p:extLst>
      <p:ext uri="{BB962C8B-B14F-4D97-AF65-F5344CB8AC3E}">
        <p14:creationId xmlns:p14="http://schemas.microsoft.com/office/powerpoint/2010/main" val="33679458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25F7982-C980-39DD-8D85-0E731EB7A183}"/>
              </a:ext>
            </a:extLst>
          </p:cNvPr>
          <p:cNvPicPr>
            <a:picLocks noChangeAspect="1"/>
          </p:cNvPicPr>
          <p:nvPr/>
        </p:nvPicPr>
        <p:blipFill>
          <a:blip r:embed="rId2"/>
          <a:stretch>
            <a:fillRect/>
          </a:stretch>
        </p:blipFill>
        <p:spPr>
          <a:xfrm>
            <a:off x="3169500" y="1571006"/>
            <a:ext cx="6917185" cy="4443093"/>
          </a:xfrm>
          <a:prstGeom prst="rect">
            <a:avLst/>
          </a:prstGeom>
        </p:spPr>
      </p:pic>
      <p:sp>
        <p:nvSpPr>
          <p:cNvPr id="5" name="Title 4">
            <a:extLst>
              <a:ext uri="{FF2B5EF4-FFF2-40B4-BE49-F238E27FC236}">
                <a16:creationId xmlns:a16="http://schemas.microsoft.com/office/drawing/2014/main" id="{3205EE02-723E-DF8B-7EA4-9320D81B83FB}"/>
              </a:ext>
            </a:extLst>
          </p:cNvPr>
          <p:cNvSpPr>
            <a:spLocks noGrp="1"/>
          </p:cNvSpPr>
          <p:nvPr>
            <p:ph type="title"/>
          </p:nvPr>
        </p:nvSpPr>
        <p:spPr>
          <a:xfrm>
            <a:off x="2903501" y="700064"/>
            <a:ext cx="7449184" cy="430887"/>
          </a:xfrm>
        </p:spPr>
        <p:txBody>
          <a:bodyPr/>
          <a:lstStyle/>
          <a:p>
            <a:pPr algn="ctr"/>
            <a:r>
              <a:rPr lang="en-IN" sz="2800" dirty="0"/>
              <a:t>LOGISTIC REGRESSION </a:t>
            </a:r>
          </a:p>
        </p:txBody>
      </p:sp>
    </p:spTree>
    <p:extLst>
      <p:ext uri="{BB962C8B-B14F-4D97-AF65-F5344CB8AC3E}">
        <p14:creationId xmlns:p14="http://schemas.microsoft.com/office/powerpoint/2010/main" val="2397689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D9B90-17C6-77D2-5C7E-7FFC9782626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FD13198-7FA4-0504-BD4C-0246E605BF02}"/>
              </a:ext>
            </a:extLst>
          </p:cNvPr>
          <p:cNvSpPr>
            <a:spLocks noGrp="1"/>
          </p:cNvSpPr>
          <p:nvPr>
            <p:ph type="title"/>
          </p:nvPr>
        </p:nvSpPr>
        <p:spPr>
          <a:xfrm>
            <a:off x="2903501" y="700064"/>
            <a:ext cx="7449184" cy="430887"/>
          </a:xfrm>
        </p:spPr>
        <p:txBody>
          <a:bodyPr/>
          <a:lstStyle/>
          <a:p>
            <a:pPr algn="ctr"/>
            <a:r>
              <a:rPr lang="en-IN" sz="2800" dirty="0"/>
              <a:t>RANDOM FOREST </a:t>
            </a:r>
          </a:p>
        </p:txBody>
      </p:sp>
      <p:pic>
        <p:nvPicPr>
          <p:cNvPr id="3" name="Picture 2">
            <a:extLst>
              <a:ext uri="{FF2B5EF4-FFF2-40B4-BE49-F238E27FC236}">
                <a16:creationId xmlns:a16="http://schemas.microsoft.com/office/drawing/2014/main" id="{7884EB80-7F4B-FF75-86BC-7848A696D1D7}"/>
              </a:ext>
            </a:extLst>
          </p:cNvPr>
          <p:cNvPicPr>
            <a:picLocks noChangeAspect="1"/>
          </p:cNvPicPr>
          <p:nvPr/>
        </p:nvPicPr>
        <p:blipFill>
          <a:blip r:embed="rId2"/>
          <a:stretch>
            <a:fillRect/>
          </a:stretch>
        </p:blipFill>
        <p:spPr>
          <a:xfrm>
            <a:off x="3221852" y="1469205"/>
            <a:ext cx="6996757" cy="4798031"/>
          </a:xfrm>
          <a:prstGeom prst="rect">
            <a:avLst/>
          </a:prstGeom>
        </p:spPr>
      </p:pic>
    </p:spTree>
    <p:extLst>
      <p:ext uri="{BB962C8B-B14F-4D97-AF65-F5344CB8AC3E}">
        <p14:creationId xmlns:p14="http://schemas.microsoft.com/office/powerpoint/2010/main" val="3127063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660B0-AD40-7884-EC71-9ABC0957B11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30B7208-D145-6A3C-DB10-49B85DFD5B38}"/>
              </a:ext>
            </a:extLst>
          </p:cNvPr>
          <p:cNvSpPr>
            <a:spLocks noGrp="1"/>
          </p:cNvSpPr>
          <p:nvPr>
            <p:ph type="title"/>
          </p:nvPr>
        </p:nvSpPr>
        <p:spPr>
          <a:xfrm>
            <a:off x="2915999" y="319609"/>
            <a:ext cx="7449184" cy="430887"/>
          </a:xfrm>
        </p:spPr>
        <p:txBody>
          <a:bodyPr/>
          <a:lstStyle/>
          <a:p>
            <a:pPr algn="ctr"/>
            <a:r>
              <a:rPr lang="en-IN" sz="2800" dirty="0"/>
              <a:t>XG BOOST</a:t>
            </a:r>
          </a:p>
        </p:txBody>
      </p:sp>
      <p:pic>
        <p:nvPicPr>
          <p:cNvPr id="2" name="Picture 1">
            <a:extLst>
              <a:ext uri="{FF2B5EF4-FFF2-40B4-BE49-F238E27FC236}">
                <a16:creationId xmlns:a16="http://schemas.microsoft.com/office/drawing/2014/main" id="{048EF4E0-E13D-7223-AAC0-8A57AA4E09F0}"/>
              </a:ext>
            </a:extLst>
          </p:cNvPr>
          <p:cNvPicPr>
            <a:picLocks noChangeAspect="1"/>
          </p:cNvPicPr>
          <p:nvPr/>
        </p:nvPicPr>
        <p:blipFill>
          <a:blip r:embed="rId2"/>
          <a:stretch>
            <a:fillRect/>
          </a:stretch>
        </p:blipFill>
        <p:spPr>
          <a:xfrm>
            <a:off x="3346073" y="1153021"/>
            <a:ext cx="6589037" cy="5385370"/>
          </a:xfrm>
          <a:prstGeom prst="rect">
            <a:avLst/>
          </a:prstGeom>
        </p:spPr>
      </p:pic>
    </p:spTree>
    <p:extLst>
      <p:ext uri="{BB962C8B-B14F-4D97-AF65-F5344CB8AC3E}">
        <p14:creationId xmlns:p14="http://schemas.microsoft.com/office/powerpoint/2010/main" val="12663934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72829-BEA9-BD3A-227C-BA3DA5F34E7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BFC6601-EB46-E642-7073-52821182C112}"/>
              </a:ext>
            </a:extLst>
          </p:cNvPr>
          <p:cNvSpPr>
            <a:spLocks noGrp="1"/>
          </p:cNvSpPr>
          <p:nvPr>
            <p:ph type="title"/>
          </p:nvPr>
        </p:nvSpPr>
        <p:spPr>
          <a:xfrm>
            <a:off x="2903501" y="700064"/>
            <a:ext cx="7449184" cy="430887"/>
          </a:xfrm>
        </p:spPr>
        <p:txBody>
          <a:bodyPr/>
          <a:lstStyle/>
          <a:p>
            <a:pPr algn="ctr"/>
            <a:r>
              <a:rPr lang="en-IN" sz="2800" dirty="0"/>
              <a:t>SOFT VOTING (RF + XGBOOST)</a:t>
            </a:r>
          </a:p>
        </p:txBody>
      </p:sp>
      <p:pic>
        <p:nvPicPr>
          <p:cNvPr id="3" name="Picture 2">
            <a:extLst>
              <a:ext uri="{FF2B5EF4-FFF2-40B4-BE49-F238E27FC236}">
                <a16:creationId xmlns:a16="http://schemas.microsoft.com/office/drawing/2014/main" id="{E70D0E93-1818-BC23-9B1A-29408C2274A5}"/>
              </a:ext>
            </a:extLst>
          </p:cNvPr>
          <p:cNvPicPr>
            <a:picLocks noChangeAspect="1"/>
          </p:cNvPicPr>
          <p:nvPr/>
        </p:nvPicPr>
        <p:blipFill>
          <a:blip r:embed="rId2"/>
          <a:stretch>
            <a:fillRect/>
          </a:stretch>
        </p:blipFill>
        <p:spPr>
          <a:xfrm>
            <a:off x="3475065" y="1458931"/>
            <a:ext cx="6359162" cy="4931594"/>
          </a:xfrm>
          <a:prstGeom prst="rect">
            <a:avLst/>
          </a:prstGeom>
        </p:spPr>
      </p:pic>
    </p:spTree>
    <p:extLst>
      <p:ext uri="{BB962C8B-B14F-4D97-AF65-F5344CB8AC3E}">
        <p14:creationId xmlns:p14="http://schemas.microsoft.com/office/powerpoint/2010/main" val="4067919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42C2E-B2C7-7D15-05F5-C7E630E31B2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66E133-1466-5527-36D2-FD9468A776A8}"/>
              </a:ext>
            </a:extLst>
          </p:cNvPr>
          <p:cNvSpPr>
            <a:spLocks noGrp="1"/>
          </p:cNvSpPr>
          <p:nvPr>
            <p:ph type="title"/>
          </p:nvPr>
        </p:nvSpPr>
        <p:spPr>
          <a:xfrm>
            <a:off x="2903501" y="700064"/>
            <a:ext cx="7449184" cy="430887"/>
          </a:xfrm>
        </p:spPr>
        <p:txBody>
          <a:bodyPr/>
          <a:lstStyle/>
          <a:p>
            <a:pPr algn="ctr"/>
            <a:r>
              <a:rPr lang="en-IN" sz="2800" dirty="0"/>
              <a:t>STACKING ENSEMBLE</a:t>
            </a:r>
          </a:p>
        </p:txBody>
      </p:sp>
      <p:pic>
        <p:nvPicPr>
          <p:cNvPr id="3" name="Picture 2">
            <a:extLst>
              <a:ext uri="{FF2B5EF4-FFF2-40B4-BE49-F238E27FC236}">
                <a16:creationId xmlns:a16="http://schemas.microsoft.com/office/drawing/2014/main" id="{0E685264-3D98-3C48-9537-848F8EDF7FDC}"/>
              </a:ext>
            </a:extLst>
          </p:cNvPr>
          <p:cNvPicPr>
            <a:picLocks noChangeAspect="1"/>
          </p:cNvPicPr>
          <p:nvPr/>
        </p:nvPicPr>
        <p:blipFill>
          <a:blip r:embed="rId2"/>
          <a:stretch>
            <a:fillRect/>
          </a:stretch>
        </p:blipFill>
        <p:spPr>
          <a:xfrm>
            <a:off x="3534312" y="1423170"/>
            <a:ext cx="6145772" cy="4874889"/>
          </a:xfrm>
          <a:prstGeom prst="rect">
            <a:avLst/>
          </a:prstGeom>
        </p:spPr>
      </p:pic>
    </p:spTree>
    <p:extLst>
      <p:ext uri="{BB962C8B-B14F-4D97-AF65-F5344CB8AC3E}">
        <p14:creationId xmlns:p14="http://schemas.microsoft.com/office/powerpoint/2010/main" val="1741899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2" name="Title 1"/>
          <p:cNvSpPr>
            <a:spLocks noGrp="1"/>
          </p:cNvSpPr>
          <p:nvPr>
            <p:ph type="title"/>
          </p:nvPr>
        </p:nvSpPr>
        <p:spPr>
          <a:xfrm>
            <a:off x="1111631" y="503034"/>
            <a:ext cx="9500000" cy="430887"/>
          </a:xfrm>
        </p:spPr>
        <p:txBody>
          <a:bodyPr/>
          <a:lstStyle/>
          <a:p>
            <a:r>
              <a:rPr lang="en-IN" sz="2800" dirty="0">
                <a:latin typeface="Arial Rounded MT Bold" pitchFamily="34" charset="0"/>
              </a:rPr>
              <a:t>                              </a:t>
            </a:r>
            <a:r>
              <a:rPr lang="en-IN" sz="2800" dirty="0">
                <a:latin typeface="Times New Roman" pitchFamily="18" charset="0"/>
              </a:rPr>
              <a:t>SHAP EXPLAINABILITYANALYSIS</a:t>
            </a:r>
          </a:p>
        </p:txBody>
      </p:sp>
      <p:sp>
        <p:nvSpPr>
          <p:cNvPr id="7" name="TextBox 6">
            <a:extLst>
              <a:ext uri="{FF2B5EF4-FFF2-40B4-BE49-F238E27FC236}">
                <a16:creationId xmlns:a16="http://schemas.microsoft.com/office/drawing/2014/main" id="{FF52FA1C-A264-78DC-C421-8E131380F54F}"/>
              </a:ext>
            </a:extLst>
          </p:cNvPr>
          <p:cNvSpPr txBox="1"/>
          <p:nvPr/>
        </p:nvSpPr>
        <p:spPr>
          <a:xfrm>
            <a:off x="1271426" y="1396435"/>
            <a:ext cx="5143933" cy="5355312"/>
          </a:xfrm>
          <a:prstGeom prst="rect">
            <a:avLst/>
          </a:prstGeom>
          <a:noFill/>
        </p:spPr>
        <p:txBody>
          <a:bodyPr wrap="square">
            <a:spAutoFit/>
          </a:bodyPr>
          <a:lstStyle/>
          <a:p>
            <a:pPr marL="285750" indent="-28575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SHAP analysis was performed using </a:t>
            </a:r>
            <a:r>
              <a:rPr lang="en-US" sz="1900" b="1" dirty="0" err="1">
                <a:latin typeface="Times New Roman" panose="02020603050405020304" pitchFamily="18" charset="0"/>
                <a:cs typeface="Times New Roman" panose="02020603050405020304" pitchFamily="18" charset="0"/>
              </a:rPr>
              <a:t>TreeExplainer</a:t>
            </a:r>
            <a:r>
              <a:rPr lang="en-US" sz="1900" dirty="0">
                <a:latin typeface="Times New Roman" panose="02020603050405020304" pitchFamily="18" charset="0"/>
                <a:cs typeface="Times New Roman" panose="02020603050405020304" pitchFamily="18" charset="0"/>
              </a:rPr>
              <a:t> on the </a:t>
            </a:r>
            <a:r>
              <a:rPr lang="en-US" sz="1900" dirty="0" err="1">
                <a:latin typeface="Times New Roman" panose="02020603050405020304" pitchFamily="18" charset="0"/>
                <a:cs typeface="Times New Roman" panose="02020603050405020304" pitchFamily="18" charset="0"/>
              </a:rPr>
              <a:t>XGBoost</a:t>
            </a:r>
            <a:r>
              <a:rPr lang="en-US" sz="1900" dirty="0">
                <a:latin typeface="Times New Roman" panose="02020603050405020304" pitchFamily="18" charset="0"/>
                <a:cs typeface="Times New Roman" panose="02020603050405020304" pitchFamily="18" charset="0"/>
              </a:rPr>
              <a:t> model. </a:t>
            </a:r>
          </a:p>
          <a:p>
            <a:pPr marL="285750" indent="-285750">
              <a:buFont typeface="Arial" panose="020B0604020202020204" pitchFamily="34" charset="0"/>
              <a:buChar char="•"/>
            </a:pPr>
            <a:endParaRPr lang="en-US" sz="19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HbA1c level</a:t>
            </a:r>
            <a:r>
              <a:rPr lang="en-US" sz="1900" dirty="0">
                <a:latin typeface="Times New Roman" panose="02020603050405020304" pitchFamily="18" charset="0"/>
                <a:cs typeface="Times New Roman" panose="02020603050405020304" pitchFamily="18" charset="0"/>
              </a:rPr>
              <a:t> and </a:t>
            </a:r>
            <a:r>
              <a:rPr lang="en-US" sz="1900" b="1" dirty="0">
                <a:latin typeface="Times New Roman" panose="02020603050405020304" pitchFamily="18" charset="0"/>
                <a:cs typeface="Times New Roman" panose="02020603050405020304" pitchFamily="18" charset="0"/>
              </a:rPr>
              <a:t>blood glucose level</a:t>
            </a:r>
            <a:r>
              <a:rPr lang="en-US" sz="1900" dirty="0">
                <a:latin typeface="Times New Roman" panose="02020603050405020304" pitchFamily="18" charset="0"/>
                <a:cs typeface="Times New Roman" panose="02020603050405020304" pitchFamily="18" charset="0"/>
              </a:rPr>
              <a:t> were identified as the most important features for diabetes prediction. </a:t>
            </a:r>
          </a:p>
          <a:p>
            <a:pPr marL="285750" indent="-285750">
              <a:buFont typeface="Arial" panose="020B0604020202020204" pitchFamily="34" charset="0"/>
              <a:buChar char="•"/>
            </a:pPr>
            <a:endParaRPr lang="en-US" sz="19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High values increased the probability of predicting diabetes, while low values reduced it. </a:t>
            </a:r>
          </a:p>
          <a:p>
            <a:pPr marL="285750" indent="-285750">
              <a:buFont typeface="Arial" panose="020B0604020202020204" pitchFamily="34" charset="0"/>
              <a:buChar char="•"/>
            </a:pPr>
            <a:endParaRPr lang="en-US" sz="19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Age</a:t>
            </a:r>
            <a:r>
              <a:rPr lang="en-US" sz="1900" dirty="0">
                <a:latin typeface="Times New Roman" panose="02020603050405020304" pitchFamily="18" charset="0"/>
                <a:cs typeface="Times New Roman" panose="02020603050405020304" pitchFamily="18" charset="0"/>
              </a:rPr>
              <a:t> and </a:t>
            </a:r>
            <a:r>
              <a:rPr lang="en-US" sz="1900" b="1" dirty="0">
                <a:latin typeface="Times New Roman" panose="02020603050405020304" pitchFamily="18" charset="0"/>
                <a:cs typeface="Times New Roman" panose="02020603050405020304" pitchFamily="18" charset="0"/>
              </a:rPr>
              <a:t>BMI</a:t>
            </a:r>
            <a:r>
              <a:rPr lang="en-US" sz="1900" dirty="0">
                <a:latin typeface="Times New Roman" panose="02020603050405020304" pitchFamily="18" charset="0"/>
                <a:cs typeface="Times New Roman" panose="02020603050405020304" pitchFamily="18" charset="0"/>
              </a:rPr>
              <a:t> showed moderate influence on predictions. </a:t>
            </a:r>
          </a:p>
          <a:p>
            <a:pPr marL="285750" indent="-285750">
              <a:buFont typeface="Arial" panose="020B0604020202020204" pitchFamily="34" charset="0"/>
              <a:buChar char="•"/>
            </a:pPr>
            <a:endParaRPr lang="en-US" sz="19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SHAP dependence plots matched clinical diagnostic thresholds such as: </a:t>
            </a:r>
          </a:p>
          <a:p>
            <a:pPr lvl="1"/>
            <a:r>
              <a:rPr lang="en-US" sz="1900" dirty="0">
                <a:latin typeface="Times New Roman" panose="02020603050405020304" pitchFamily="18" charset="0"/>
                <a:cs typeface="Times New Roman" panose="02020603050405020304" pitchFamily="18" charset="0"/>
              </a:rPr>
              <a:t>         1. HbA1c ≥ 6.5% </a:t>
            </a:r>
          </a:p>
          <a:p>
            <a:pPr lvl="1"/>
            <a:r>
              <a:rPr lang="en-US" sz="1900" dirty="0">
                <a:latin typeface="Times New Roman" panose="02020603050405020304" pitchFamily="18" charset="0"/>
                <a:cs typeface="Times New Roman" panose="02020603050405020304" pitchFamily="18" charset="0"/>
              </a:rPr>
              <a:t>         2. Blood glucose ≥ 140 mg/dL </a:t>
            </a:r>
          </a:p>
          <a:p>
            <a:pPr lvl="1"/>
            <a:endParaRPr lang="en-US" sz="19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6212211-852E-C376-4C36-1CB2EE0D6C5C}"/>
              </a:ext>
            </a:extLst>
          </p:cNvPr>
          <p:cNvPicPr>
            <a:picLocks noChangeAspect="1"/>
          </p:cNvPicPr>
          <p:nvPr/>
        </p:nvPicPr>
        <p:blipFill>
          <a:blip r:embed="rId3"/>
          <a:stretch>
            <a:fillRect/>
          </a:stretch>
        </p:blipFill>
        <p:spPr>
          <a:xfrm>
            <a:off x="6415359" y="1682966"/>
            <a:ext cx="5574638" cy="349206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F2E44-4DFB-05A3-83C4-76E508485249}"/>
              </a:ext>
            </a:extLst>
          </p:cNvPr>
          <p:cNvSpPr>
            <a:spLocks noGrp="1"/>
          </p:cNvSpPr>
          <p:nvPr>
            <p:ph type="title"/>
          </p:nvPr>
        </p:nvSpPr>
        <p:spPr>
          <a:xfrm>
            <a:off x="4130212" y="2598003"/>
            <a:ext cx="5292092" cy="1661993"/>
          </a:xfrm>
        </p:spPr>
        <p:txBody>
          <a:bodyPr/>
          <a:lstStyle/>
          <a:p>
            <a:r>
              <a:rPr lang="en-IN" sz="5400" dirty="0">
                <a:solidFill>
                  <a:srgbClr val="FF0000"/>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78628232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3078</TotalTime>
  <Words>967</Words>
  <Application>Microsoft Office PowerPoint</Application>
  <PresentationFormat>Widescreen</PresentationFormat>
  <Paragraphs>195</Paragraphs>
  <Slides>22</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Arial Rounded MT Bold</vt:lpstr>
      <vt:lpstr>Calibri</vt:lpstr>
      <vt:lpstr>Times New Roman</vt:lpstr>
      <vt:lpstr>Office Theme</vt:lpstr>
      <vt:lpstr>MACHINE LEARNING BASED DIABETES PREDICTION SYSTEM</vt:lpstr>
      <vt:lpstr>PowerPoint Presentation</vt:lpstr>
      <vt:lpstr>                                 DOMAIN OVERVIEW</vt:lpstr>
      <vt:lpstr>LITERATURE SURVEY</vt:lpstr>
      <vt:lpstr>                              DATASET DESCRIPTION</vt:lpstr>
      <vt:lpstr>1. 100,000 records which is large enough for robust model training and evaluation  2. Contains real clinical biomarkers - HbA1c and blood glucose which are the gold standard diagnostic features for diabetes  3. Chosen over PIMA dataset which has only 768 records, covers only females of one ethnic group, and contains impossible zero values in clinical features </vt:lpstr>
      <vt:lpstr>CLASS IMBALANCE IN THE DATASET</vt:lpstr>
      <vt:lpstr>FEATURE CORRELATION HEATMAP</vt:lpstr>
      <vt:lpstr>WORKFLOW OF THE PROPOSED SYSTEM</vt:lpstr>
      <vt:lpstr>PowerPoint Presentation</vt:lpstr>
      <vt:lpstr>DATA PREPROCESSING</vt:lpstr>
      <vt:lpstr>TEST AND TRAIN DATA SPLIT</vt:lpstr>
      <vt:lpstr>EFFECT OF SMOTE ON TRAINING DATA</vt:lpstr>
      <vt:lpstr>EVALUATION METRICS</vt:lpstr>
      <vt:lpstr>PowerPoint Presentation</vt:lpstr>
      <vt:lpstr>LOGISTIC REGRESSION </vt:lpstr>
      <vt:lpstr>RANDOM FOREST </vt:lpstr>
      <vt:lpstr>XG BOOST</vt:lpstr>
      <vt:lpstr>SOFT VOTING (RF + XGBOOST)</vt:lpstr>
      <vt:lpstr>STACKING ENSEMBLE</vt:lpstr>
      <vt:lpstr>                              SHAP EXPLAINABILITYANALYSIS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DEVELOPMENT  FOR HOTEL MANI’S LODGE</dc:title>
  <dc:creator>M Adithyan</dc:creator>
  <cp:lastModifiedBy>Bhavana Sanjay</cp:lastModifiedBy>
  <cp:revision>167</cp:revision>
  <dcterms:modified xsi:type="dcterms:W3CDTF">2026-05-21T04:58:37Z</dcterms:modified>
</cp:coreProperties>
</file>